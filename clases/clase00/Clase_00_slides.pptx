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3"/>
    <p:sldId id="257" r:id="rId4"/>
    <p:sldId id="258" r:id="rId5"/>
    <p:sldId id="267" r:id="rId6"/>
    <p:sldId id="268" r:id="rId7"/>
    <p:sldId id="259" r:id="rId8"/>
    <p:sldId id="260" r:id="rId9"/>
    <p:sldId id="276" r:id="rId10"/>
    <p:sldId id="261" r:id="rId11"/>
    <p:sldId id="271" r:id="rId12"/>
    <p:sldId id="262" r:id="rId13"/>
    <p:sldId id="263" r:id="rId14"/>
    <p:sldId id="272" r:id="rId15"/>
    <p:sldId id="274" r:id="rId16"/>
    <p:sldId id="264" r:id="rId17"/>
    <p:sldId id="269" r:id="rId18"/>
    <p:sldId id="277" r:id="rId19"/>
    <p:sldId id="266"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468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B246-C26C-FD8D-9717-806AF81F7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C4E3A-1ED9-1E90-8CA2-97997754A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3D37D-AEA1-24E9-E136-8D33E514BE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0CDBE6-E324-F1B9-0BBB-4E71C1C9B07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4020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C6457-1438-E859-E3D7-3EC71ECF4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F4AF9-9471-C3DD-C028-25D0878A1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64194-AD55-877B-F70D-694EE9B8A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78A661-7368-5ECD-6B36-5A474775010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54906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BD85-1B36-1BFD-F520-2D7F90DFB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06DBC-3BD5-66EF-EDC0-07EA5A9BB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776F6-D6CE-A440-B351-1F4DF3E76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2F1AD-6036-58E2-C57B-47D0987AD0F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94133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48B2-3B14-5593-1AA4-FB712C800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275E-5773-1C16-5344-341304E2A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C1E76-6389-D58D-9E2A-924CD47CF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803072-B93A-83D2-EA08-FFA6EF0E65C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71350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6CA0-7D0B-E1AF-93E8-48533E3AD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AF582-6A74-4665-513A-530E65F85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D9E4A-638E-F326-A8FD-48A11D5F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2D0B4-7194-6C99-8AF0-C6693BD9841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3144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00EAA-3B91-B76E-3202-20904E78C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0DCCB-51CE-D9D4-51EC-73DA36BAB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227AB-45A0-8275-1E6B-44DE1A052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0F9C3-BA4A-B0A1-36A0-5F146C88C4F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50144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CD40-D4D1-B815-DCE5-56E3E10C9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6D9E8-3D7E-5F56-1FBF-3B89FAD34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1ACEF-8D48-527F-69B0-1315612BEA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B334FD-AD89-6624-E34C-9DC392F6E98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20516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1408-0FDE-FB2E-01CD-20C20E281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D0139-4540-BE66-83F2-7C8478141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8A9F1-C56B-8CAF-76D5-BF28D8FD71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F3E5A8-B70B-5D82-1BF1-3FF91F9D80A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04079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3D64F-E283-5024-EAF3-DF3043BE6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3BB05-13FE-AC89-0A40-8F39242AD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44402-7D35-2FF3-C4CD-C30D48CC8A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DA1FDB-753E-97A8-4D4B-1E8EBDDDF46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04733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docs.google.com/spreadsheets/d/1qJqhNKqZBd8fF-mceK9HD0qxr4E0L953vhowUnWI-IM/edit?gid=1693566194#gid=1693566194"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www.geeksforgeeks.org/git/difference-between-fork-and-clone-in-github/" TargetMode="External"/><Relationship Id="rId4" Type="http://schemas.openxmlformats.org/officeDocument/2006/relationships/hyperlink" Target="https://github.com/nsidicarocep/curso_cdd_fce_uba_1c2026"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pic>
        <p:nvPicPr>
          <p:cNvPr id="4" name="Image 0" descr="preencoded.png"/>
          <p:cNvPicPr>
            <a:picLocks noChangeAspect="1"/>
          </p:cNvPicPr>
          <p:nvPr/>
        </p:nvPicPr>
        <p:blipFill>
          <a:blip r:embed="rId3"/>
          <a:stretch>
            <a:fillRect/>
          </a:stretch>
        </p:blipFill>
        <p:spPr>
          <a:xfrm>
            <a:off x="4114800" y="640080"/>
            <a:ext cx="914400" cy="914400"/>
          </a:xfrm>
          <a:prstGeom prst="rect">
            <a:avLst/>
          </a:prstGeom>
        </p:spPr>
      </p:pic>
      <p:sp>
        <p:nvSpPr>
          <p:cNvPr id="5" name="Text 2"/>
          <p:cNvSpPr/>
          <p:nvPr/>
        </p:nvSpPr>
        <p:spPr>
          <a:xfrm>
            <a:off x="731520" y="1645920"/>
            <a:ext cx="7680960" cy="1280160"/>
          </a:xfrm>
          <a:prstGeom prst="rect">
            <a:avLst/>
          </a:prstGeom>
          <a:noFill/>
          <a:ln/>
        </p:spPr>
        <p:txBody>
          <a:bodyPr wrap="square" rtlCol="0" anchor="ctr"/>
          <a:lstStyle/>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Ciencia de Datos</a:t>
            </a:r>
            <a:endParaRPr lang="es-AR" sz="3400" noProof="0" dirty="0"/>
          </a:p>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para Economía y Negocios</a:t>
            </a:r>
            <a:endParaRPr lang="es-AR" sz="3400" noProof="0" dirty="0"/>
          </a:p>
        </p:txBody>
      </p:sp>
      <p:sp>
        <p:nvSpPr>
          <p:cNvPr id="6" name="Shape 3"/>
          <p:cNvSpPr/>
          <p:nvPr/>
        </p:nvSpPr>
        <p:spPr>
          <a:xfrm>
            <a:off x="3200400" y="3063240"/>
            <a:ext cx="2743200" cy="22860"/>
          </a:xfrm>
          <a:prstGeom prst="rect">
            <a:avLst/>
          </a:prstGeom>
          <a:solidFill>
            <a:srgbClr val="E8963E"/>
          </a:solidFill>
          <a:ln/>
        </p:spPr>
        <p:txBody>
          <a:bodyPr/>
          <a:lstStyle/>
          <a:p>
            <a:endParaRPr lang="es-AR" noProof="0" dirty="0"/>
          </a:p>
        </p:txBody>
      </p:sp>
      <p:sp>
        <p:nvSpPr>
          <p:cNvPr id="7" name="Text 4"/>
          <p:cNvSpPr/>
          <p:nvPr/>
        </p:nvSpPr>
        <p:spPr>
          <a:xfrm>
            <a:off x="914400" y="3246120"/>
            <a:ext cx="7315200" cy="457200"/>
          </a:xfrm>
          <a:prstGeom prst="rect">
            <a:avLst/>
          </a:prstGeom>
          <a:noFill/>
          <a:ln/>
        </p:spPr>
        <p:txBody>
          <a:bodyPr wrap="square" rtlCol="0" anchor="ctr"/>
          <a:lstStyle/>
          <a:p>
            <a:pPr marL="0" indent="0" algn="ctr">
              <a:buNone/>
            </a:pPr>
            <a:r>
              <a:rPr lang="es-AR" sz="1800" noProof="0" dirty="0">
                <a:solidFill>
                  <a:srgbClr val="2E9EBF"/>
                </a:solidFill>
                <a:latin typeface="Calibri" pitchFamily="34" charset="0"/>
                <a:ea typeface="Calibri" pitchFamily="34" charset="-122"/>
                <a:cs typeface="Calibri" pitchFamily="34" charset="-120"/>
              </a:rPr>
              <a:t>Clase 1: Presentación del Curso</a:t>
            </a:r>
            <a:endParaRPr lang="es-AR" sz="1800" noProof="0" dirty="0"/>
          </a:p>
        </p:txBody>
      </p:sp>
      <p:sp>
        <p:nvSpPr>
          <p:cNvPr id="8" name="Text 5"/>
          <p:cNvSpPr/>
          <p:nvPr/>
        </p:nvSpPr>
        <p:spPr>
          <a:xfrm>
            <a:off x="914400" y="3794760"/>
            <a:ext cx="7315200" cy="640080"/>
          </a:xfrm>
          <a:prstGeom prst="rect">
            <a:avLst/>
          </a:prstGeom>
          <a:noFill/>
          <a:ln/>
        </p:spPr>
        <p:txBody>
          <a:bodyPr wrap="square" rtlCol="0" anchor="ctr"/>
          <a:lstStyle/>
          <a:p>
            <a:pPr marL="0" indent="0" algn="ctr">
              <a:lnSpc>
                <a:spcPct val="140000"/>
              </a:lnSpc>
              <a:buNone/>
            </a:pPr>
            <a:r>
              <a:rPr lang="es-AR" sz="1300" noProof="0" dirty="0">
                <a:solidFill>
                  <a:srgbClr val="7FA8C4"/>
                </a:solidFill>
                <a:latin typeface="Calibri" pitchFamily="34" charset="0"/>
                <a:ea typeface="Calibri" pitchFamily="34" charset="-122"/>
                <a:cs typeface="Calibri" pitchFamily="34" charset="-120"/>
              </a:rPr>
              <a:t>Facultad de Ciencias Económicas — Universidad de Buenos Aires</a:t>
            </a:r>
            <a:endParaRPr lang="es-AR" sz="1300" noProof="0" dirty="0"/>
          </a:p>
          <a:p>
            <a:pPr marL="0" indent="0" algn="ctr">
              <a:lnSpc>
                <a:spcPct val="140000"/>
              </a:lnSpc>
              <a:buNone/>
            </a:pPr>
            <a:r>
              <a:rPr lang="es-AR" sz="1300" noProof="0" dirty="0">
                <a:solidFill>
                  <a:srgbClr val="7FA8C4"/>
                </a:solidFill>
                <a:latin typeface="Calibri" pitchFamily="34" charset="0"/>
                <a:ea typeface="Calibri" pitchFamily="34" charset="-122"/>
                <a:cs typeface="Calibri" pitchFamily="34" charset="-120"/>
              </a:rPr>
              <a:t>1er Cuatrimestre 2026</a:t>
            </a:r>
            <a:endParaRPr lang="es-AR" sz="1300" noProof="0" dirty="0"/>
          </a:p>
        </p:txBody>
      </p:sp>
      <p:sp>
        <p:nvSpPr>
          <p:cNvPr id="9"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10" name="Text 7"/>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9A10-3B94-A216-F8F7-4BA16EA334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26E0ED1-EDCD-05C4-69D1-D393B797E668}"/>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4712408-132B-B600-A6FB-1E50F77A845B}"/>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Presentación</a:t>
            </a:r>
            <a:endParaRPr lang="es-AR" sz="3000" noProof="0" dirty="0"/>
          </a:p>
        </p:txBody>
      </p:sp>
      <p:sp>
        <p:nvSpPr>
          <p:cNvPr id="4" name="Text 2">
            <a:extLst>
              <a:ext uri="{FF2B5EF4-FFF2-40B4-BE49-F238E27FC236}">
                <a16:creationId xmlns:a16="http://schemas.microsoft.com/office/drawing/2014/main" id="{FB5F928A-E01E-3D59-9783-970F1A7D1667}"/>
              </a:ext>
            </a:extLst>
          </p:cNvPr>
          <p:cNvSpPr/>
          <p:nvPr/>
        </p:nvSpPr>
        <p:spPr>
          <a:xfrm>
            <a:off x="640080" y="960120"/>
            <a:ext cx="7863840" cy="685800"/>
          </a:xfrm>
          <a:prstGeom prst="rect">
            <a:avLst/>
          </a:prstGeom>
          <a:noFill/>
          <a:ln/>
        </p:spPr>
        <p:txBody>
          <a:bodyPr wrap="square" rtlCol="0" anchor="t"/>
          <a:lstStyle/>
          <a:p>
            <a:pPr marL="0" indent="0" algn="l">
              <a:lnSpc>
                <a:spcPct val="135000"/>
              </a:lnSpc>
              <a:buNone/>
            </a:pPr>
            <a:r>
              <a:rPr lang="es-AR" sz="1300" noProof="0" dirty="0">
                <a:solidFill>
                  <a:srgbClr val="5A7184"/>
                </a:solidFill>
                <a:latin typeface="Calibri" pitchFamily="34" charset="0"/>
                <a:ea typeface="Calibri" pitchFamily="34" charset="-122"/>
                <a:cs typeface="Calibri" pitchFamily="34" charset="-120"/>
              </a:rPr>
              <a:t>Docente: Nicolás Sidicaro</a:t>
            </a:r>
          </a:p>
          <a:p>
            <a:pPr marL="0" indent="0" algn="l">
              <a:lnSpc>
                <a:spcPct val="135000"/>
              </a:lnSpc>
              <a:buNone/>
            </a:pPr>
            <a:r>
              <a:rPr lang="es-AR" sz="1300" dirty="0">
                <a:solidFill>
                  <a:srgbClr val="5A7184"/>
                </a:solidFill>
                <a:latin typeface="Calibri" pitchFamily="34" charset="0"/>
                <a:cs typeface="Calibri" pitchFamily="34" charset="-120"/>
              </a:rPr>
              <a:t>Mail: nsidicaro.fce@gmail.com</a:t>
            </a:r>
            <a:endParaRPr lang="es-AR" sz="1300" noProof="0" dirty="0"/>
          </a:p>
        </p:txBody>
      </p:sp>
      <p:sp>
        <p:nvSpPr>
          <p:cNvPr id="5" name="Shape 3">
            <a:extLst>
              <a:ext uri="{FF2B5EF4-FFF2-40B4-BE49-F238E27FC236}">
                <a16:creationId xmlns:a16="http://schemas.microsoft.com/office/drawing/2014/main" id="{C8CC17E7-7E81-ADF8-3DA0-BAD076D9D46C}"/>
              </a:ext>
            </a:extLst>
          </p:cNvPr>
          <p:cNvSpPr/>
          <p:nvPr/>
        </p:nvSpPr>
        <p:spPr>
          <a:xfrm>
            <a:off x="64008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6" name="Shape 4">
            <a:extLst>
              <a:ext uri="{FF2B5EF4-FFF2-40B4-BE49-F238E27FC236}">
                <a16:creationId xmlns:a16="http://schemas.microsoft.com/office/drawing/2014/main" id="{0DE83D8A-6A86-A540-73B3-B60C49950138}"/>
              </a:ext>
            </a:extLst>
          </p:cNvPr>
          <p:cNvSpPr/>
          <p:nvPr/>
        </p:nvSpPr>
        <p:spPr>
          <a:xfrm>
            <a:off x="640080" y="1828800"/>
            <a:ext cx="2514600" cy="54864"/>
          </a:xfrm>
          <a:prstGeom prst="rect">
            <a:avLst/>
          </a:prstGeom>
          <a:solidFill>
            <a:srgbClr val="1A6B8A"/>
          </a:solidFill>
          <a:ln/>
        </p:spPr>
        <p:txBody>
          <a:bodyPr/>
          <a:lstStyle/>
          <a:p>
            <a:endParaRPr lang="es-AR" noProof="0" dirty="0"/>
          </a:p>
        </p:txBody>
      </p:sp>
      <p:sp>
        <p:nvSpPr>
          <p:cNvPr id="8" name="Text 5">
            <a:extLst>
              <a:ext uri="{FF2B5EF4-FFF2-40B4-BE49-F238E27FC236}">
                <a16:creationId xmlns:a16="http://schemas.microsoft.com/office/drawing/2014/main" id="{65942137-9000-888B-AE2D-85D355BD5486}"/>
              </a:ext>
            </a:extLst>
          </p:cNvPr>
          <p:cNvSpPr/>
          <p:nvPr/>
        </p:nvSpPr>
        <p:spPr>
          <a:xfrm>
            <a:off x="822960" y="2016901"/>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Trabajo</a:t>
            </a:r>
            <a:endParaRPr lang="es-AR" sz="1500" noProof="0" dirty="0"/>
          </a:p>
        </p:txBody>
      </p:sp>
      <p:sp>
        <p:nvSpPr>
          <p:cNvPr id="9" name="Text 6">
            <a:extLst>
              <a:ext uri="{FF2B5EF4-FFF2-40B4-BE49-F238E27FC236}">
                <a16:creationId xmlns:a16="http://schemas.microsoft.com/office/drawing/2014/main" id="{3E6212A8-D4B9-1CF5-169A-78C74B05E994}"/>
              </a:ext>
            </a:extLst>
          </p:cNvPr>
          <p:cNvSpPr/>
          <p:nvPr/>
        </p:nvSpPr>
        <p:spPr>
          <a:xfrm>
            <a:off x="822960" y="2368296"/>
            <a:ext cx="2148840" cy="1517904"/>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Fundar (</a:t>
            </a:r>
            <a:r>
              <a:rPr lang="es-AR" sz="1100" noProof="0" dirty="0" err="1">
                <a:solidFill>
                  <a:srgbClr val="5A7184"/>
                </a:solidFill>
                <a:latin typeface="Calibri" pitchFamily="34" charset="0"/>
                <a:ea typeface="Calibri" pitchFamily="34" charset="-122"/>
                <a:cs typeface="Calibri" pitchFamily="34" charset="-120"/>
              </a:rPr>
              <a:t>Think</a:t>
            </a:r>
            <a:r>
              <a:rPr lang="es-AR" sz="1100" noProof="0" dirty="0">
                <a:solidFill>
                  <a:srgbClr val="5A7184"/>
                </a:solidFill>
                <a:latin typeface="Calibri" pitchFamily="34" charset="0"/>
                <a:ea typeface="Calibri" pitchFamily="34" charset="-122"/>
                <a:cs typeface="Calibri" pitchFamily="34" charset="-120"/>
              </a:rPr>
              <a:t> </a:t>
            </a:r>
            <a:r>
              <a:rPr lang="es-AR" sz="1100" noProof="0" dirty="0" err="1">
                <a:solidFill>
                  <a:srgbClr val="5A7184"/>
                </a:solidFill>
                <a:latin typeface="Calibri" pitchFamily="34" charset="0"/>
                <a:ea typeface="Calibri" pitchFamily="34" charset="-122"/>
                <a:cs typeface="Calibri" pitchFamily="34" charset="-120"/>
              </a:rPr>
              <a:t>Tank</a:t>
            </a:r>
            <a:r>
              <a:rPr lang="es-AR" sz="1100" noProof="0" dirty="0">
                <a:solidFill>
                  <a:srgbClr val="5A7184"/>
                </a:solidFill>
                <a:latin typeface="Calibri" pitchFamily="34" charset="0"/>
                <a:ea typeface="Calibri" pitchFamily="34" charset="-122"/>
                <a:cs typeface="Calibri" pitchFamily="34" charset="-120"/>
              </a:rPr>
              <a:t>)</a:t>
            </a:r>
          </a:p>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Ministerio de Economía</a:t>
            </a:r>
          </a:p>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Sector privado</a:t>
            </a:r>
          </a:p>
          <a:p>
            <a:pPr marL="0" indent="0" algn="ctr">
              <a:lnSpc>
                <a:spcPct val="130000"/>
              </a:lnSpc>
              <a:buNone/>
            </a:pPr>
            <a:endParaRPr lang="es-AR" sz="1100" dirty="0">
              <a:solidFill>
                <a:srgbClr val="5A7184"/>
              </a:solidFill>
              <a:latin typeface="Calibri" pitchFamily="34" charset="0"/>
              <a:cs typeface="Calibri" pitchFamily="34" charset="-120"/>
            </a:endParaRPr>
          </a:p>
          <a:p>
            <a:pPr marL="0" indent="0" algn="ctr">
              <a:lnSpc>
                <a:spcPct val="130000"/>
              </a:lnSpc>
              <a:buNone/>
            </a:pPr>
            <a:r>
              <a:rPr lang="es-AR" sz="1100" noProof="0" dirty="0">
                <a:solidFill>
                  <a:srgbClr val="5A7184"/>
                </a:solidFill>
                <a:latin typeface="Calibri" pitchFamily="34" charset="0"/>
                <a:cs typeface="Calibri" pitchFamily="34" charset="-120"/>
              </a:rPr>
              <a:t>Docente de Econometría (UADE) y Ciencia de Datos (UBA)</a:t>
            </a:r>
            <a:endParaRPr lang="es-AR" sz="1100" noProof="0" dirty="0"/>
          </a:p>
        </p:txBody>
      </p:sp>
      <p:sp>
        <p:nvSpPr>
          <p:cNvPr id="10" name="Shape 7">
            <a:extLst>
              <a:ext uri="{FF2B5EF4-FFF2-40B4-BE49-F238E27FC236}">
                <a16:creationId xmlns:a16="http://schemas.microsoft.com/office/drawing/2014/main" id="{3814B89B-50AD-4870-FED5-795647D9DB86}"/>
              </a:ext>
            </a:extLst>
          </p:cNvPr>
          <p:cNvSpPr/>
          <p:nvPr/>
        </p:nvSpPr>
        <p:spPr>
          <a:xfrm>
            <a:off x="342900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a:extLst>
              <a:ext uri="{FF2B5EF4-FFF2-40B4-BE49-F238E27FC236}">
                <a16:creationId xmlns:a16="http://schemas.microsoft.com/office/drawing/2014/main" id="{997FB800-CF24-0ECC-1907-F4C861AEEA93}"/>
              </a:ext>
            </a:extLst>
          </p:cNvPr>
          <p:cNvSpPr/>
          <p:nvPr/>
        </p:nvSpPr>
        <p:spPr>
          <a:xfrm>
            <a:off x="3429000" y="1828800"/>
            <a:ext cx="2514600" cy="54864"/>
          </a:xfrm>
          <a:prstGeom prst="rect">
            <a:avLst/>
          </a:prstGeom>
          <a:solidFill>
            <a:srgbClr val="1A6B8A"/>
          </a:solidFill>
          <a:ln/>
        </p:spPr>
        <p:txBody>
          <a:bodyPr/>
          <a:lstStyle/>
          <a:p>
            <a:endParaRPr lang="es-AR" noProof="0" dirty="0"/>
          </a:p>
        </p:txBody>
      </p:sp>
      <p:sp>
        <p:nvSpPr>
          <p:cNvPr id="13" name="Text 9">
            <a:extLst>
              <a:ext uri="{FF2B5EF4-FFF2-40B4-BE49-F238E27FC236}">
                <a16:creationId xmlns:a16="http://schemas.microsoft.com/office/drawing/2014/main" id="{FEB6D645-6275-5485-5EC0-2BECD9BC804C}"/>
              </a:ext>
            </a:extLst>
          </p:cNvPr>
          <p:cNvSpPr/>
          <p:nvPr/>
        </p:nvSpPr>
        <p:spPr>
          <a:xfrm>
            <a:off x="3611880" y="2002536"/>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Estudios</a:t>
            </a:r>
            <a:endParaRPr lang="es-AR" sz="1500" noProof="0" dirty="0"/>
          </a:p>
        </p:txBody>
      </p:sp>
      <p:sp>
        <p:nvSpPr>
          <p:cNvPr id="14" name="Text 10">
            <a:extLst>
              <a:ext uri="{FF2B5EF4-FFF2-40B4-BE49-F238E27FC236}">
                <a16:creationId xmlns:a16="http://schemas.microsoft.com/office/drawing/2014/main" id="{520D6901-9C8E-0E22-9E9A-3D68B4579929}"/>
              </a:ext>
            </a:extLst>
          </p:cNvPr>
          <p:cNvSpPr/>
          <p:nvPr/>
        </p:nvSpPr>
        <p:spPr>
          <a:xfrm>
            <a:off x="3611880" y="237744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Economista (UBA)</a:t>
            </a:r>
          </a:p>
          <a:p>
            <a:pPr marL="0" indent="0" algn="ctr">
              <a:lnSpc>
                <a:spcPct val="130000"/>
              </a:lnSpc>
              <a:buNone/>
            </a:pPr>
            <a:r>
              <a:rPr lang="es-AR" sz="1100" dirty="0">
                <a:solidFill>
                  <a:srgbClr val="5A7184"/>
                </a:solidFill>
                <a:latin typeface="Calibri" pitchFamily="34" charset="0"/>
                <a:cs typeface="Calibri" pitchFamily="34" charset="-120"/>
              </a:rPr>
              <a:t>Especialista en Políticas Sociales (UNTREF)</a:t>
            </a:r>
          </a:p>
          <a:p>
            <a:pPr marL="0" indent="0" algn="ctr">
              <a:lnSpc>
                <a:spcPct val="130000"/>
              </a:lnSpc>
              <a:buNone/>
            </a:pPr>
            <a:r>
              <a:rPr lang="es-AR" sz="1100" noProof="0" dirty="0">
                <a:solidFill>
                  <a:srgbClr val="5A7184"/>
                </a:solidFill>
                <a:latin typeface="Calibri" pitchFamily="34" charset="0"/>
                <a:cs typeface="Calibri" pitchFamily="34" charset="-120"/>
              </a:rPr>
              <a:t>Maestrando en Desarrollo Económico (UNSAM)</a:t>
            </a:r>
            <a:endParaRPr lang="es-AR" sz="1100" noProof="0" dirty="0"/>
          </a:p>
        </p:txBody>
      </p:sp>
      <p:sp>
        <p:nvSpPr>
          <p:cNvPr id="15" name="Shape 11">
            <a:extLst>
              <a:ext uri="{FF2B5EF4-FFF2-40B4-BE49-F238E27FC236}">
                <a16:creationId xmlns:a16="http://schemas.microsoft.com/office/drawing/2014/main" id="{2B35C7F6-8E1E-A3BC-6843-62C8B21A5C44}"/>
              </a:ext>
            </a:extLst>
          </p:cNvPr>
          <p:cNvSpPr/>
          <p:nvPr/>
        </p:nvSpPr>
        <p:spPr>
          <a:xfrm>
            <a:off x="621792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6" name="Shape 12">
            <a:extLst>
              <a:ext uri="{FF2B5EF4-FFF2-40B4-BE49-F238E27FC236}">
                <a16:creationId xmlns:a16="http://schemas.microsoft.com/office/drawing/2014/main" id="{D8EB5247-4A94-1709-28D5-9685965CF185}"/>
              </a:ext>
            </a:extLst>
          </p:cNvPr>
          <p:cNvSpPr/>
          <p:nvPr/>
        </p:nvSpPr>
        <p:spPr>
          <a:xfrm>
            <a:off x="6217920" y="1828800"/>
            <a:ext cx="2514600" cy="54864"/>
          </a:xfrm>
          <a:prstGeom prst="rect">
            <a:avLst/>
          </a:prstGeom>
          <a:solidFill>
            <a:srgbClr val="1A6B8A"/>
          </a:solidFill>
          <a:ln/>
        </p:spPr>
        <p:txBody>
          <a:bodyPr/>
          <a:lstStyle/>
          <a:p>
            <a:endParaRPr lang="es-AR" noProof="0" dirty="0"/>
          </a:p>
        </p:txBody>
      </p:sp>
      <p:sp>
        <p:nvSpPr>
          <p:cNvPr id="18" name="Text 13">
            <a:extLst>
              <a:ext uri="{FF2B5EF4-FFF2-40B4-BE49-F238E27FC236}">
                <a16:creationId xmlns:a16="http://schemas.microsoft.com/office/drawing/2014/main" id="{C864023C-7D9E-028E-A397-F90AEB84C3FA}"/>
              </a:ext>
            </a:extLst>
          </p:cNvPr>
          <p:cNvSpPr/>
          <p:nvPr/>
        </p:nvSpPr>
        <p:spPr>
          <a:xfrm>
            <a:off x="6290554" y="2016901"/>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Temas de interés</a:t>
            </a:r>
            <a:endParaRPr lang="es-AR" sz="1500" noProof="0" dirty="0"/>
          </a:p>
        </p:txBody>
      </p:sp>
      <p:sp>
        <p:nvSpPr>
          <p:cNvPr id="19" name="Text 14">
            <a:extLst>
              <a:ext uri="{FF2B5EF4-FFF2-40B4-BE49-F238E27FC236}">
                <a16:creationId xmlns:a16="http://schemas.microsoft.com/office/drawing/2014/main" id="{5349E908-FF5E-E595-4193-CF8FBF509453}"/>
              </a:ext>
            </a:extLst>
          </p:cNvPr>
          <p:cNvSpPr/>
          <p:nvPr/>
        </p:nvSpPr>
        <p:spPr>
          <a:xfrm>
            <a:off x="6400800" y="2383973"/>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Desarrollo productivo</a:t>
            </a:r>
          </a:p>
          <a:p>
            <a:pPr marL="0" indent="0" algn="ctr">
              <a:lnSpc>
                <a:spcPct val="130000"/>
              </a:lnSpc>
              <a:buNone/>
            </a:pPr>
            <a:r>
              <a:rPr lang="es-AR" sz="1100" dirty="0">
                <a:solidFill>
                  <a:srgbClr val="5A7184"/>
                </a:solidFill>
                <a:latin typeface="Calibri" pitchFamily="34" charset="0"/>
                <a:cs typeface="Calibri" pitchFamily="34" charset="-120"/>
              </a:rPr>
              <a:t>Políticas públicas</a:t>
            </a:r>
          </a:p>
          <a:p>
            <a:pPr marL="0" indent="0" algn="ctr">
              <a:lnSpc>
                <a:spcPct val="130000"/>
              </a:lnSpc>
              <a:buNone/>
            </a:pPr>
            <a:r>
              <a:rPr lang="es-AR" sz="1100" noProof="0" dirty="0">
                <a:solidFill>
                  <a:srgbClr val="5A7184"/>
                </a:solidFill>
                <a:latin typeface="Calibri" pitchFamily="34" charset="0"/>
                <a:cs typeface="Calibri" pitchFamily="34" charset="-120"/>
              </a:rPr>
              <a:t>Desarrollo económico regional</a:t>
            </a:r>
          </a:p>
          <a:p>
            <a:pPr marL="0" indent="0" algn="ctr">
              <a:lnSpc>
                <a:spcPct val="130000"/>
              </a:lnSpc>
              <a:buNone/>
            </a:pPr>
            <a:endParaRPr lang="es-AR" sz="1100" dirty="0">
              <a:solidFill>
                <a:srgbClr val="5A7184"/>
              </a:solidFill>
              <a:latin typeface="Calibri" pitchFamily="34" charset="0"/>
              <a:cs typeface="Calibri" pitchFamily="34" charset="-120"/>
            </a:endParaRPr>
          </a:p>
          <a:p>
            <a:pPr marL="0" indent="0" algn="ctr">
              <a:lnSpc>
                <a:spcPct val="130000"/>
              </a:lnSpc>
              <a:buNone/>
            </a:pPr>
            <a:r>
              <a:rPr lang="es-AR" sz="1100" noProof="0" dirty="0">
                <a:solidFill>
                  <a:srgbClr val="5A7184"/>
                </a:solidFill>
                <a:latin typeface="Calibri" pitchFamily="34" charset="0"/>
                <a:cs typeface="Calibri" pitchFamily="34" charset="-120"/>
              </a:rPr>
              <a:t>Trabajos recientes: índice de precios relativos internacional, espacio-producto, monitor de empresas, </a:t>
            </a:r>
            <a:r>
              <a:rPr lang="es-AR" sz="1100" noProof="0" dirty="0" err="1">
                <a:solidFill>
                  <a:srgbClr val="5A7184"/>
                </a:solidFill>
                <a:latin typeface="Calibri" pitchFamily="34" charset="0"/>
                <a:cs typeface="Calibri" pitchFamily="34" charset="-120"/>
              </a:rPr>
              <a:t>Vinodata</a:t>
            </a:r>
            <a:r>
              <a:rPr lang="es-AR" sz="1100" noProof="0" dirty="0">
                <a:solidFill>
                  <a:srgbClr val="5A7184"/>
                </a:solidFill>
                <a:latin typeface="Calibri" pitchFamily="34" charset="0"/>
                <a:cs typeface="Calibri" pitchFamily="34" charset="-120"/>
              </a:rPr>
              <a:t>, TOAR</a:t>
            </a:r>
            <a:endParaRPr lang="es-AR" sz="1100" noProof="0" dirty="0"/>
          </a:p>
        </p:txBody>
      </p:sp>
      <p:sp>
        <p:nvSpPr>
          <p:cNvPr id="20" name="Shape 15">
            <a:extLst>
              <a:ext uri="{FF2B5EF4-FFF2-40B4-BE49-F238E27FC236}">
                <a16:creationId xmlns:a16="http://schemas.microsoft.com/office/drawing/2014/main" id="{6B090C23-F942-2CC5-6C3C-2C94504A4CDF}"/>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6">
            <a:extLst>
              <a:ext uri="{FF2B5EF4-FFF2-40B4-BE49-F238E27FC236}">
                <a16:creationId xmlns:a16="http://schemas.microsoft.com/office/drawing/2014/main" id="{18E971E9-2006-D835-B478-493F03569AED}"/>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17">
            <a:extLst>
              <a:ext uri="{FF2B5EF4-FFF2-40B4-BE49-F238E27FC236}">
                <a16:creationId xmlns:a16="http://schemas.microsoft.com/office/drawing/2014/main" id="{36E32B14-1E66-0C89-A340-9568262D0CB7}"/>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2 / 11</a:t>
            </a:r>
            <a:endParaRPr lang="es-AR" sz="800" noProof="0" dirty="0"/>
          </a:p>
        </p:txBody>
      </p:sp>
    </p:spTree>
    <p:extLst>
      <p:ext uri="{BB962C8B-B14F-4D97-AF65-F5344CB8AC3E}">
        <p14:creationId xmlns:p14="http://schemas.microsoft.com/office/powerpoint/2010/main" val="792934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¿Qué es Ciencia de Datos?</a:t>
            </a:r>
            <a:endParaRPr lang="es-AR" sz="3000" noProof="0" dirty="0"/>
          </a:p>
        </p:txBody>
      </p:sp>
      <p:sp>
        <p:nvSpPr>
          <p:cNvPr id="4" name="Text 2"/>
          <p:cNvSpPr/>
          <p:nvPr/>
        </p:nvSpPr>
        <p:spPr>
          <a:xfrm>
            <a:off x="640080" y="960120"/>
            <a:ext cx="7863840" cy="685800"/>
          </a:xfrm>
          <a:prstGeom prst="rect">
            <a:avLst/>
          </a:prstGeom>
          <a:noFill/>
          <a:ln/>
        </p:spPr>
        <p:txBody>
          <a:bodyPr wrap="square" rtlCol="0" anchor="t"/>
          <a:lstStyle/>
          <a:p>
            <a:pPr marL="0" indent="0" algn="l">
              <a:lnSpc>
                <a:spcPct val="135000"/>
              </a:lnSpc>
              <a:buNone/>
            </a:pPr>
            <a:r>
              <a:rPr lang="es-AR" sz="1300" noProof="0" dirty="0">
                <a:solidFill>
                  <a:srgbClr val="5A7184"/>
                </a:solidFill>
                <a:latin typeface="Calibri" pitchFamily="34" charset="0"/>
                <a:ea typeface="Calibri" pitchFamily="34" charset="-122"/>
                <a:cs typeface="Calibri" pitchFamily="34" charset="-120"/>
              </a:rPr>
              <a:t>Es un campo interdisciplinario que utiliza métodos estadísticos, algoritmos y herramientas computacionales para extraer conocimiento y valor a partir de datos estructurados y no estructurados.</a:t>
            </a:r>
            <a:endParaRPr lang="es-AR" sz="1300" noProof="0" dirty="0"/>
          </a:p>
        </p:txBody>
      </p:sp>
      <p:sp>
        <p:nvSpPr>
          <p:cNvPr id="5" name="Shape 3"/>
          <p:cNvSpPr/>
          <p:nvPr/>
        </p:nvSpPr>
        <p:spPr>
          <a:xfrm>
            <a:off x="64008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6" name="Shape 4"/>
          <p:cNvSpPr/>
          <p:nvPr/>
        </p:nvSpPr>
        <p:spPr>
          <a:xfrm>
            <a:off x="640080" y="1828800"/>
            <a:ext cx="2514600" cy="54864"/>
          </a:xfrm>
          <a:prstGeom prst="rect">
            <a:avLst/>
          </a:prstGeom>
          <a:solidFill>
            <a:srgbClr val="1A6B8A"/>
          </a:solidFill>
          <a:ln/>
        </p:spPr>
        <p:txBody>
          <a:bodyPr/>
          <a:lstStyle/>
          <a:p>
            <a:endParaRPr lang="es-AR" noProof="0" dirty="0"/>
          </a:p>
        </p:txBody>
      </p:sp>
      <p:pic>
        <p:nvPicPr>
          <p:cNvPr id="7" name="Image 0" descr="preencoded.png"/>
          <p:cNvPicPr>
            <a:picLocks noChangeAspect="1"/>
          </p:cNvPicPr>
          <p:nvPr/>
        </p:nvPicPr>
        <p:blipFill>
          <a:blip r:embed="rId3"/>
          <a:stretch>
            <a:fillRect/>
          </a:stretch>
        </p:blipFill>
        <p:spPr>
          <a:xfrm>
            <a:off x="1554480" y="2103120"/>
            <a:ext cx="640080" cy="640080"/>
          </a:xfrm>
          <a:prstGeom prst="rect">
            <a:avLst/>
          </a:prstGeom>
        </p:spPr>
      </p:pic>
      <p:sp>
        <p:nvSpPr>
          <p:cNvPr id="8" name="Text 5"/>
          <p:cNvSpPr/>
          <p:nvPr/>
        </p:nvSpPr>
        <p:spPr>
          <a:xfrm>
            <a:off x="82296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Programación</a:t>
            </a:r>
            <a:endParaRPr lang="es-AR" sz="1500" noProof="0" dirty="0"/>
          </a:p>
        </p:txBody>
      </p:sp>
      <p:sp>
        <p:nvSpPr>
          <p:cNvPr id="9" name="Text 6"/>
          <p:cNvSpPr/>
          <p:nvPr/>
        </p:nvSpPr>
        <p:spPr>
          <a:xfrm>
            <a:off x="82296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Herramientas para manipular, limpiar y transformar datos de forma reproducible</a:t>
            </a:r>
            <a:endParaRPr lang="es-AR" sz="1100" noProof="0" dirty="0"/>
          </a:p>
        </p:txBody>
      </p:sp>
      <p:sp>
        <p:nvSpPr>
          <p:cNvPr id="10" name="Shape 7"/>
          <p:cNvSpPr/>
          <p:nvPr/>
        </p:nvSpPr>
        <p:spPr>
          <a:xfrm>
            <a:off x="342900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3429000" y="1828800"/>
            <a:ext cx="2514600" cy="54864"/>
          </a:xfrm>
          <a:prstGeom prst="rect">
            <a:avLst/>
          </a:prstGeom>
          <a:solidFill>
            <a:srgbClr val="1A6B8A"/>
          </a:solidFill>
          <a:ln/>
        </p:spPr>
        <p:txBody>
          <a:bodyPr/>
          <a:lstStyle/>
          <a:p>
            <a:endParaRPr lang="es-AR" noProof="0" dirty="0"/>
          </a:p>
        </p:txBody>
      </p:sp>
      <p:pic>
        <p:nvPicPr>
          <p:cNvPr id="12" name="Image 1" descr="preencoded.png"/>
          <p:cNvPicPr>
            <a:picLocks noChangeAspect="1"/>
          </p:cNvPicPr>
          <p:nvPr/>
        </p:nvPicPr>
        <p:blipFill>
          <a:blip r:embed="rId4"/>
          <a:stretch>
            <a:fillRect/>
          </a:stretch>
        </p:blipFill>
        <p:spPr>
          <a:xfrm>
            <a:off x="4343400" y="2103120"/>
            <a:ext cx="640080" cy="640080"/>
          </a:xfrm>
          <a:prstGeom prst="rect">
            <a:avLst/>
          </a:prstGeom>
        </p:spPr>
      </p:pic>
      <p:sp>
        <p:nvSpPr>
          <p:cNvPr id="13" name="Text 9"/>
          <p:cNvSpPr/>
          <p:nvPr/>
        </p:nvSpPr>
        <p:spPr>
          <a:xfrm>
            <a:off x="361188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Estadística</a:t>
            </a:r>
            <a:endParaRPr lang="es-AR" sz="1500" noProof="0" dirty="0"/>
          </a:p>
        </p:txBody>
      </p:sp>
      <p:sp>
        <p:nvSpPr>
          <p:cNvPr id="14" name="Text 10"/>
          <p:cNvSpPr/>
          <p:nvPr/>
        </p:nvSpPr>
        <p:spPr>
          <a:xfrm>
            <a:off x="361188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Métodos para describir patrones, testear hipótesis y modelar relaciones</a:t>
            </a:r>
            <a:endParaRPr lang="es-AR" sz="1100" noProof="0" dirty="0"/>
          </a:p>
        </p:txBody>
      </p:sp>
      <p:sp>
        <p:nvSpPr>
          <p:cNvPr id="15" name="Shape 11"/>
          <p:cNvSpPr/>
          <p:nvPr/>
        </p:nvSpPr>
        <p:spPr>
          <a:xfrm>
            <a:off x="621792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6" name="Shape 12"/>
          <p:cNvSpPr/>
          <p:nvPr/>
        </p:nvSpPr>
        <p:spPr>
          <a:xfrm>
            <a:off x="6217920" y="1828800"/>
            <a:ext cx="2514600" cy="54864"/>
          </a:xfrm>
          <a:prstGeom prst="rect">
            <a:avLst/>
          </a:prstGeom>
          <a:solidFill>
            <a:srgbClr val="1A6B8A"/>
          </a:solidFill>
          <a:ln/>
        </p:spPr>
        <p:txBody>
          <a:bodyPr/>
          <a:lstStyle/>
          <a:p>
            <a:endParaRPr lang="es-AR" noProof="0" dirty="0"/>
          </a:p>
        </p:txBody>
      </p:sp>
      <p:pic>
        <p:nvPicPr>
          <p:cNvPr id="17" name="Image 2" descr="preencoded.png"/>
          <p:cNvPicPr>
            <a:picLocks noChangeAspect="1"/>
          </p:cNvPicPr>
          <p:nvPr/>
        </p:nvPicPr>
        <p:blipFill>
          <a:blip r:embed="rId5"/>
          <a:stretch>
            <a:fillRect/>
          </a:stretch>
        </p:blipFill>
        <p:spPr>
          <a:xfrm>
            <a:off x="7132320" y="2103120"/>
            <a:ext cx="640080" cy="640080"/>
          </a:xfrm>
          <a:prstGeom prst="rect">
            <a:avLst/>
          </a:prstGeom>
        </p:spPr>
      </p:pic>
      <p:sp>
        <p:nvSpPr>
          <p:cNvPr id="18" name="Text 13"/>
          <p:cNvSpPr/>
          <p:nvPr/>
        </p:nvSpPr>
        <p:spPr>
          <a:xfrm>
            <a:off x="640080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Dominio</a:t>
            </a:r>
            <a:endParaRPr lang="es-AR" sz="1500" noProof="0" dirty="0"/>
          </a:p>
        </p:txBody>
      </p:sp>
      <p:sp>
        <p:nvSpPr>
          <p:cNvPr id="19" name="Text 14"/>
          <p:cNvSpPr/>
          <p:nvPr/>
        </p:nvSpPr>
        <p:spPr>
          <a:xfrm>
            <a:off x="640080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Conocimiento del contexto (economía, negocios) para formular preguntas relevantes</a:t>
            </a:r>
            <a:endParaRPr lang="es-AR" sz="1100" noProof="0" dirty="0"/>
          </a:p>
        </p:txBody>
      </p:sp>
      <p:sp>
        <p:nvSpPr>
          <p:cNvPr id="20"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6"/>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2 / 11</a:t>
            </a:r>
            <a:endParaRPr lang="es-AR" sz="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4" name="Shape 2"/>
          <p:cNvSpPr/>
          <p:nvPr/>
        </p:nvSpPr>
        <p:spPr>
          <a:xfrm>
            <a:off x="640080" y="1051560"/>
            <a:ext cx="3931920" cy="333756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pic>
        <p:nvPicPr>
          <p:cNvPr id="5" name="Image 0" descr="preencoded.png"/>
          <p:cNvPicPr>
            <a:picLocks noChangeAspect="1"/>
          </p:cNvPicPr>
          <p:nvPr/>
        </p:nvPicPr>
        <p:blipFill>
          <a:blip r:embed="rId3"/>
          <a:stretch>
            <a:fillRect/>
          </a:stretch>
        </p:blipFill>
        <p:spPr>
          <a:xfrm>
            <a:off x="2240280" y="1325880"/>
            <a:ext cx="640080" cy="640080"/>
          </a:xfrm>
          <a:prstGeom prst="rect">
            <a:avLst/>
          </a:prstGeom>
        </p:spPr>
      </p:pic>
      <p:sp>
        <p:nvSpPr>
          <p:cNvPr id="6" name="Text 3"/>
          <p:cNvSpPr/>
          <p:nvPr/>
        </p:nvSpPr>
        <p:spPr>
          <a:xfrm>
            <a:off x="914400" y="2057400"/>
            <a:ext cx="3383280" cy="640080"/>
          </a:xfrm>
          <a:prstGeom prst="rect">
            <a:avLst/>
          </a:prstGeom>
          <a:noFill/>
          <a:ln/>
        </p:spPr>
        <p:txBody>
          <a:bodyPr wrap="square" rtlCol="0" anchor="ctr"/>
          <a:lstStyle/>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Las </a:t>
            </a:r>
            <a:r>
              <a:rPr lang="es-AR" sz="1700" b="1" noProof="0" dirty="0" err="1">
                <a:solidFill>
                  <a:srgbClr val="FFFFFF"/>
                </a:solidFill>
                <a:latin typeface="Georgia" pitchFamily="34" charset="0"/>
                <a:ea typeface="Georgia" pitchFamily="34" charset="-122"/>
                <a:cs typeface="Georgia" pitchFamily="34" charset="-120"/>
              </a:rPr>
              <a:t>IAs</a:t>
            </a:r>
            <a:r>
              <a:rPr lang="es-AR" sz="1700" b="1" noProof="0" dirty="0">
                <a:solidFill>
                  <a:srgbClr val="FFFFFF"/>
                </a:solidFill>
                <a:latin typeface="Georgia" pitchFamily="34" charset="0"/>
                <a:ea typeface="Georgia" pitchFamily="34" charset="-122"/>
                <a:cs typeface="Georgia" pitchFamily="34" charset="-120"/>
              </a:rPr>
              <a:t> no reemplaza</a:t>
            </a:r>
            <a:endParaRPr lang="es-AR" sz="1700" noProof="0" dirty="0"/>
          </a:p>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pensar</a:t>
            </a:r>
            <a:endParaRPr lang="es-AR" sz="1700" noProof="0" dirty="0"/>
          </a:p>
        </p:txBody>
      </p:sp>
      <p:sp>
        <p:nvSpPr>
          <p:cNvPr id="7" name="Text 4"/>
          <p:cNvSpPr/>
          <p:nvPr/>
        </p:nvSpPr>
        <p:spPr>
          <a:xfrm>
            <a:off x="640080" y="2788920"/>
            <a:ext cx="3931920" cy="914400"/>
          </a:xfrm>
          <a:prstGeom prst="rect">
            <a:avLst/>
          </a:prstGeom>
          <a:noFill/>
          <a:ln/>
        </p:spPr>
        <p:txBody>
          <a:bodyPr wrap="square" rtlCol="0" anchor="t"/>
          <a:lstStyle/>
          <a:p>
            <a:pPr marL="0" indent="0" algn="ctr">
              <a:lnSpc>
                <a:spcPct val="135000"/>
              </a:lnSpc>
              <a:buNone/>
            </a:pPr>
            <a:r>
              <a:rPr lang="es-AR" sz="1200" noProof="0" dirty="0">
                <a:solidFill>
                  <a:srgbClr val="B0C8D8"/>
                </a:solidFill>
                <a:latin typeface="Calibri" pitchFamily="34" charset="0"/>
                <a:ea typeface="Calibri" pitchFamily="34" charset="-122"/>
                <a:cs typeface="Calibri" pitchFamily="34" charset="-120"/>
              </a:rPr>
              <a:t>Los </a:t>
            </a:r>
            <a:r>
              <a:rPr lang="es-AR" sz="1200" noProof="0" dirty="0" err="1">
                <a:solidFill>
                  <a:srgbClr val="B0C8D8"/>
                </a:solidFill>
                <a:latin typeface="Calibri" pitchFamily="34" charset="0"/>
                <a:ea typeface="Calibri" pitchFamily="34" charset="-122"/>
                <a:cs typeface="Calibri" pitchFamily="34" charset="-120"/>
              </a:rPr>
              <a:t>LLMs</a:t>
            </a:r>
            <a:r>
              <a:rPr lang="es-AR" sz="1200" noProof="0" dirty="0">
                <a:solidFill>
                  <a:srgbClr val="B0C8D8"/>
                </a:solidFill>
                <a:latin typeface="Calibri" pitchFamily="34" charset="0"/>
                <a:ea typeface="Calibri" pitchFamily="34" charset="-122"/>
                <a:cs typeface="Calibri" pitchFamily="34" charset="-120"/>
              </a:rPr>
              <a:t> pueden generar código y análisis, pero sin entender los fundamentos no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evaluar si lo que producen es correcto, relevante o engañoso. Tampoco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pedir bien qué se necesita</a:t>
            </a:r>
            <a:endParaRPr lang="es-AR" sz="1200" noProof="0" dirty="0"/>
          </a:p>
        </p:txBody>
      </p:sp>
      <p:pic>
        <p:nvPicPr>
          <p:cNvPr id="9" name="Image 1" descr="preencoded.png"/>
          <p:cNvPicPr>
            <a:picLocks noChangeAspect="1"/>
          </p:cNvPicPr>
          <p:nvPr/>
        </p:nvPicPr>
        <p:blipFill>
          <a:blip r:embed="rId4"/>
          <a:stretch>
            <a:fillRect/>
          </a:stretch>
        </p:blipFill>
        <p:spPr>
          <a:xfrm>
            <a:off x="4846320" y="1124712"/>
            <a:ext cx="320040" cy="320040"/>
          </a:xfrm>
          <a:prstGeom prst="rect">
            <a:avLst/>
          </a:prstGeom>
        </p:spPr>
      </p:pic>
      <p:sp>
        <p:nvSpPr>
          <p:cNvPr id="10" name="Text 6"/>
          <p:cNvSpPr/>
          <p:nvPr/>
        </p:nvSpPr>
        <p:spPr>
          <a:xfrm>
            <a:off x="5303520" y="105156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Validar resultados</a:t>
            </a:r>
            <a:endParaRPr lang="es-AR" sz="1300" noProof="0" dirty="0"/>
          </a:p>
        </p:txBody>
      </p:sp>
      <p:sp>
        <p:nvSpPr>
          <p:cNvPr id="11" name="Text 7"/>
          <p:cNvSpPr/>
          <p:nvPr/>
        </p:nvSpPr>
        <p:spPr>
          <a:xfrm>
            <a:off x="5303520" y="139903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Saber si un output estadístico tiene sentido o es una alucinación de la IA</a:t>
            </a:r>
            <a:endParaRPr lang="es-AR" sz="1100" noProof="0" dirty="0"/>
          </a:p>
        </p:txBody>
      </p:sp>
      <p:pic>
        <p:nvPicPr>
          <p:cNvPr id="12" name="Image 2" descr="preencoded.png"/>
          <p:cNvPicPr>
            <a:picLocks noChangeAspect="1"/>
          </p:cNvPicPr>
          <p:nvPr/>
        </p:nvPicPr>
        <p:blipFill>
          <a:blip r:embed="rId4"/>
          <a:stretch>
            <a:fillRect/>
          </a:stretch>
        </p:blipFill>
        <p:spPr>
          <a:xfrm>
            <a:off x="4846320" y="1947672"/>
            <a:ext cx="320040" cy="320040"/>
          </a:xfrm>
          <a:prstGeom prst="rect">
            <a:avLst/>
          </a:prstGeom>
        </p:spPr>
      </p:pic>
      <p:sp>
        <p:nvSpPr>
          <p:cNvPr id="13" name="Text 8"/>
          <p:cNvSpPr/>
          <p:nvPr/>
        </p:nvSpPr>
        <p:spPr>
          <a:xfrm>
            <a:off x="5303520" y="187452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Formular preguntas</a:t>
            </a:r>
            <a:endParaRPr lang="es-AR" sz="1300" noProof="0" dirty="0"/>
          </a:p>
        </p:txBody>
      </p:sp>
      <p:sp>
        <p:nvSpPr>
          <p:cNvPr id="14" name="Text 9"/>
          <p:cNvSpPr/>
          <p:nvPr/>
        </p:nvSpPr>
        <p:spPr>
          <a:xfrm>
            <a:off x="5303520" y="222199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La IA responde, pero formular la pregunta correcta requiere criterio humano</a:t>
            </a:r>
            <a:endParaRPr lang="es-AR" sz="1100" noProof="0" dirty="0"/>
          </a:p>
        </p:txBody>
      </p:sp>
      <p:pic>
        <p:nvPicPr>
          <p:cNvPr id="15" name="Image 3" descr="preencoded.png"/>
          <p:cNvPicPr>
            <a:picLocks noChangeAspect="1"/>
          </p:cNvPicPr>
          <p:nvPr/>
        </p:nvPicPr>
        <p:blipFill>
          <a:blip r:embed="rId4"/>
          <a:stretch>
            <a:fillRect/>
          </a:stretch>
        </p:blipFill>
        <p:spPr>
          <a:xfrm>
            <a:off x="4846320" y="2770632"/>
            <a:ext cx="320040" cy="320040"/>
          </a:xfrm>
          <a:prstGeom prst="rect">
            <a:avLst/>
          </a:prstGeom>
        </p:spPr>
      </p:pic>
      <p:sp>
        <p:nvSpPr>
          <p:cNvPr id="16" name="Text 10"/>
          <p:cNvSpPr/>
          <p:nvPr/>
        </p:nvSpPr>
        <p:spPr>
          <a:xfrm>
            <a:off x="5303520" y="269748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Interpretar datos</a:t>
            </a:r>
            <a:endParaRPr lang="es-AR" sz="1300" noProof="0" dirty="0"/>
          </a:p>
        </p:txBody>
      </p:sp>
      <p:sp>
        <p:nvSpPr>
          <p:cNvPr id="17" name="Text 11"/>
          <p:cNvSpPr/>
          <p:nvPr/>
        </p:nvSpPr>
        <p:spPr>
          <a:xfrm>
            <a:off x="5303520" y="304495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Distinguir correlación de causalidad, identificar sesgos, evaluar significancia</a:t>
            </a:r>
            <a:endParaRPr lang="es-AR" sz="1100" noProof="0" dirty="0"/>
          </a:p>
        </p:txBody>
      </p:sp>
      <p:pic>
        <p:nvPicPr>
          <p:cNvPr id="18" name="Image 4" descr="preencoded.png"/>
          <p:cNvPicPr>
            <a:picLocks noChangeAspect="1"/>
          </p:cNvPicPr>
          <p:nvPr/>
        </p:nvPicPr>
        <p:blipFill>
          <a:blip r:embed="rId4"/>
          <a:stretch>
            <a:fillRect/>
          </a:stretch>
        </p:blipFill>
        <p:spPr>
          <a:xfrm>
            <a:off x="4846320" y="3593592"/>
            <a:ext cx="320040" cy="320040"/>
          </a:xfrm>
          <a:prstGeom prst="rect">
            <a:avLst/>
          </a:prstGeom>
        </p:spPr>
      </p:pic>
      <p:sp>
        <p:nvSpPr>
          <p:cNvPr id="19" name="Text 12"/>
          <p:cNvSpPr/>
          <p:nvPr/>
        </p:nvSpPr>
        <p:spPr>
          <a:xfrm>
            <a:off x="5303520" y="352044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Comunicar hallazgos</a:t>
            </a:r>
            <a:endParaRPr lang="es-AR" sz="1300" noProof="0" dirty="0"/>
          </a:p>
        </p:txBody>
      </p:sp>
      <p:sp>
        <p:nvSpPr>
          <p:cNvPr id="20" name="Text 13"/>
          <p:cNvSpPr/>
          <p:nvPr/>
        </p:nvSpPr>
        <p:spPr>
          <a:xfrm>
            <a:off x="5303520" y="386791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Diseñar visualizaciones claras y contar historias con datos de forma rigurosa</a:t>
            </a:r>
            <a:endParaRPr lang="es-AR" sz="1100" noProof="0" dirty="0"/>
          </a:p>
        </p:txBody>
      </p:sp>
      <p:sp>
        <p:nvSpPr>
          <p:cNvPr id="21" name="Shape 14"/>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871D-A35D-02ED-8509-03EAA806EA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1AB541-75C7-5B5C-924B-90D697ACA882}"/>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963B09B-DA1A-B550-8F08-B2FA44ABABBF}"/>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21" name="Shape 14">
            <a:extLst>
              <a:ext uri="{FF2B5EF4-FFF2-40B4-BE49-F238E27FC236}">
                <a16:creationId xmlns:a16="http://schemas.microsoft.com/office/drawing/2014/main" id="{34C249EC-839E-4B15-0899-29C713E9369F}"/>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43B3048C-B69A-74CE-A5DA-D17B44BE4BFE}"/>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a:extLst>
              <a:ext uri="{FF2B5EF4-FFF2-40B4-BE49-F238E27FC236}">
                <a16:creationId xmlns:a16="http://schemas.microsoft.com/office/drawing/2014/main" id="{8B7C58B3-2B50-C174-52C7-4B94C1456EE7}"/>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1026" name="Picture 2">
            <a:extLst>
              <a:ext uri="{FF2B5EF4-FFF2-40B4-BE49-F238E27FC236}">
                <a16:creationId xmlns:a16="http://schemas.microsoft.com/office/drawing/2014/main" id="{B46E9C78-D06F-598A-F93E-9202C6A96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1716" y="663695"/>
            <a:ext cx="3717273" cy="396966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DC33FA8C-E8DE-962A-37E5-E425380DE62C}"/>
              </a:ext>
            </a:extLst>
          </p:cNvPr>
          <p:cNvSpPr txBox="1"/>
          <p:nvPr/>
        </p:nvSpPr>
        <p:spPr>
          <a:xfrm>
            <a:off x="1507799" y="1290563"/>
            <a:ext cx="2666198" cy="584775"/>
          </a:xfrm>
          <a:prstGeom prst="rect">
            <a:avLst/>
          </a:prstGeom>
          <a:noFill/>
        </p:spPr>
        <p:txBody>
          <a:bodyPr wrap="square" rtlCol="0">
            <a:spAutoFit/>
          </a:bodyPr>
          <a:lstStyle/>
          <a:p>
            <a:r>
              <a:rPr lang="es-AR" sz="3200" b="1" noProof="0" dirty="0"/>
              <a:t>Ustedes ahora</a:t>
            </a:r>
          </a:p>
        </p:txBody>
      </p:sp>
      <p:sp>
        <p:nvSpPr>
          <p:cNvPr id="25" name="CuadroTexto 24">
            <a:extLst>
              <a:ext uri="{FF2B5EF4-FFF2-40B4-BE49-F238E27FC236}">
                <a16:creationId xmlns:a16="http://schemas.microsoft.com/office/drawing/2014/main" id="{3B675265-0FE0-E76B-9BFF-1DC7F8FD4FFA}"/>
              </a:ext>
            </a:extLst>
          </p:cNvPr>
          <p:cNvSpPr txBox="1"/>
          <p:nvPr/>
        </p:nvSpPr>
        <p:spPr>
          <a:xfrm>
            <a:off x="1507799" y="3118173"/>
            <a:ext cx="2666198" cy="1077218"/>
          </a:xfrm>
          <a:prstGeom prst="rect">
            <a:avLst/>
          </a:prstGeom>
          <a:noFill/>
        </p:spPr>
        <p:txBody>
          <a:bodyPr wrap="square" rtlCol="0">
            <a:spAutoFit/>
          </a:bodyPr>
          <a:lstStyle/>
          <a:p>
            <a:r>
              <a:rPr lang="es-AR" sz="3200" b="1" noProof="0" dirty="0"/>
              <a:t>Ustedes al final de curso</a:t>
            </a:r>
          </a:p>
        </p:txBody>
      </p:sp>
      <p:sp>
        <p:nvSpPr>
          <p:cNvPr id="26" name="Flecha: a la derecha 25">
            <a:extLst>
              <a:ext uri="{FF2B5EF4-FFF2-40B4-BE49-F238E27FC236}">
                <a16:creationId xmlns:a16="http://schemas.microsoft.com/office/drawing/2014/main" id="{6E5A4177-8246-F1D6-9C23-69F82B271E14}"/>
              </a:ext>
            </a:extLst>
          </p:cNvPr>
          <p:cNvSpPr/>
          <p:nvPr/>
        </p:nvSpPr>
        <p:spPr>
          <a:xfrm>
            <a:off x="4254366" y="1443789"/>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
        <p:nvSpPr>
          <p:cNvPr id="27" name="Flecha: a la derecha 26">
            <a:extLst>
              <a:ext uri="{FF2B5EF4-FFF2-40B4-BE49-F238E27FC236}">
                <a16:creationId xmlns:a16="http://schemas.microsoft.com/office/drawing/2014/main" id="{582720AF-9EEA-2778-6361-2C0115C6863D}"/>
              </a:ext>
            </a:extLst>
          </p:cNvPr>
          <p:cNvSpPr/>
          <p:nvPr/>
        </p:nvSpPr>
        <p:spPr>
          <a:xfrm>
            <a:off x="4231431" y="3466683"/>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Tree>
    <p:extLst>
      <p:ext uri="{BB962C8B-B14F-4D97-AF65-F5344CB8AC3E}">
        <p14:creationId xmlns:p14="http://schemas.microsoft.com/office/powerpoint/2010/main" val="302446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D348C-9DB1-A836-DA70-A6758C7083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19ED6B-660B-8ABB-022A-045EF6AE36F3}"/>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D2E72B68-5A28-B42B-EC6E-AB699A72A611}"/>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Hasta que….</a:t>
            </a:r>
            <a:endParaRPr lang="es-AR" sz="2700" noProof="0" dirty="0"/>
          </a:p>
        </p:txBody>
      </p:sp>
      <p:sp>
        <p:nvSpPr>
          <p:cNvPr id="21" name="Shape 14">
            <a:extLst>
              <a:ext uri="{FF2B5EF4-FFF2-40B4-BE49-F238E27FC236}">
                <a16:creationId xmlns:a16="http://schemas.microsoft.com/office/drawing/2014/main" id="{1BB11852-C41A-8E80-0EB6-714481B0A934}"/>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789A0FD2-6A04-2171-2CB0-B8120C774331}"/>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a:extLst>
              <a:ext uri="{FF2B5EF4-FFF2-40B4-BE49-F238E27FC236}">
                <a16:creationId xmlns:a16="http://schemas.microsoft.com/office/drawing/2014/main" id="{3A06419A-E772-35C1-4BB2-45D33064255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2050" name="Picture 2" descr="Terminator 2 crítica de la película y opiniones ¿Está o no ...">
            <a:extLst>
              <a:ext uri="{FF2B5EF4-FFF2-40B4-BE49-F238E27FC236}">
                <a16:creationId xmlns:a16="http://schemas.microsoft.com/office/drawing/2014/main" id="{9F514CA6-8F00-DF38-84D9-230665990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467" y="797102"/>
            <a:ext cx="6959065" cy="3912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22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Unidades del Curso</a:t>
            </a:r>
            <a:endParaRPr lang="es-AR" sz="3000" noProof="0" dirty="0"/>
          </a:p>
        </p:txBody>
      </p:sp>
      <p:sp>
        <p:nvSpPr>
          <p:cNvPr id="4" name="Shape 2"/>
          <p:cNvSpPr/>
          <p:nvPr/>
        </p:nvSpPr>
        <p:spPr>
          <a:xfrm>
            <a:off x="365760"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365760" y="1051560"/>
            <a:ext cx="1572768" cy="54864"/>
          </a:xfrm>
          <a:prstGeom prst="rect">
            <a:avLst/>
          </a:prstGeom>
          <a:solidFill>
            <a:srgbClr val="1A6B8A"/>
          </a:solidFill>
          <a:ln/>
        </p:spPr>
        <p:txBody>
          <a:bodyPr/>
          <a:lstStyle/>
          <a:p>
            <a:endParaRPr lang="es-AR" noProof="0" dirty="0"/>
          </a:p>
        </p:txBody>
      </p:sp>
      <p:sp>
        <p:nvSpPr>
          <p:cNvPr id="6" name="Text 4"/>
          <p:cNvSpPr/>
          <p:nvPr/>
        </p:nvSpPr>
        <p:spPr>
          <a:xfrm>
            <a:off x="365760"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01</a:t>
            </a:r>
            <a:endParaRPr lang="es-AR" sz="2800" noProof="0" dirty="0"/>
          </a:p>
        </p:txBody>
      </p:sp>
      <p:pic>
        <p:nvPicPr>
          <p:cNvPr id="7" name="Image 0" descr="preencoded.png"/>
          <p:cNvPicPr>
            <a:picLocks noChangeAspect="1"/>
          </p:cNvPicPr>
          <p:nvPr/>
        </p:nvPicPr>
        <p:blipFill>
          <a:blip r:embed="rId3"/>
          <a:stretch>
            <a:fillRect/>
          </a:stretch>
        </p:blipFill>
        <p:spPr>
          <a:xfrm>
            <a:off x="896112" y="1783080"/>
            <a:ext cx="512064" cy="512064"/>
          </a:xfrm>
          <a:prstGeom prst="rect">
            <a:avLst/>
          </a:prstGeom>
        </p:spPr>
      </p:pic>
      <p:sp>
        <p:nvSpPr>
          <p:cNvPr id="8" name="Text 5"/>
          <p:cNvSpPr/>
          <p:nvPr/>
        </p:nvSpPr>
        <p:spPr>
          <a:xfrm>
            <a:off x="457200"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Introducción a la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Programación en R</a:t>
            </a:r>
            <a:endParaRPr lang="es-AR" sz="1150" noProof="0" dirty="0"/>
          </a:p>
        </p:txBody>
      </p:sp>
      <p:sp>
        <p:nvSpPr>
          <p:cNvPr id="9" name="Text 6"/>
          <p:cNvSpPr/>
          <p:nvPr/>
        </p:nvSpPr>
        <p:spPr>
          <a:xfrm>
            <a:off x="457200"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Lógica de programación, sintaxis de R, </a:t>
            </a:r>
            <a:r>
              <a:rPr lang="es-AR" sz="950" noProof="0" dirty="0" err="1">
                <a:solidFill>
                  <a:srgbClr val="5A7184"/>
                </a:solidFill>
                <a:latin typeface="Calibri" pitchFamily="34" charset="0"/>
                <a:ea typeface="Calibri" pitchFamily="34" charset="-122"/>
                <a:cs typeface="Calibri" pitchFamily="34" charset="-120"/>
              </a:rPr>
              <a:t>tidyverse</a:t>
            </a:r>
            <a:r>
              <a:rPr lang="es-AR" sz="950" noProof="0" dirty="0">
                <a:solidFill>
                  <a:srgbClr val="5A7184"/>
                </a:solidFill>
                <a:latin typeface="Calibri" pitchFamily="34" charset="0"/>
                <a:ea typeface="Calibri" pitchFamily="34" charset="-122"/>
                <a:cs typeface="Calibri" pitchFamily="34" charset="-120"/>
              </a:rPr>
              <a:t>, manipulación y limpieza de datos</a:t>
            </a:r>
            <a:endParaRPr lang="es-AR" sz="950" noProof="0" dirty="0"/>
          </a:p>
        </p:txBody>
      </p:sp>
      <p:sp>
        <p:nvSpPr>
          <p:cNvPr id="10" name="Shape 7"/>
          <p:cNvSpPr/>
          <p:nvPr/>
        </p:nvSpPr>
        <p:spPr>
          <a:xfrm>
            <a:off x="2084832"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2084832" y="1051560"/>
            <a:ext cx="1572768" cy="54864"/>
          </a:xfrm>
          <a:prstGeom prst="rect">
            <a:avLst/>
          </a:prstGeom>
          <a:solidFill>
            <a:srgbClr val="2E9EBF"/>
          </a:solidFill>
          <a:ln/>
        </p:spPr>
        <p:txBody>
          <a:bodyPr/>
          <a:lstStyle/>
          <a:p>
            <a:endParaRPr lang="es-AR" noProof="0" dirty="0"/>
          </a:p>
        </p:txBody>
      </p:sp>
      <p:sp>
        <p:nvSpPr>
          <p:cNvPr id="12" name="Text 9"/>
          <p:cNvSpPr/>
          <p:nvPr/>
        </p:nvSpPr>
        <p:spPr>
          <a:xfrm>
            <a:off x="2084832"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02</a:t>
            </a:r>
            <a:endParaRPr lang="es-AR" sz="2800" noProof="0" dirty="0"/>
          </a:p>
        </p:txBody>
      </p:sp>
      <p:pic>
        <p:nvPicPr>
          <p:cNvPr id="13" name="Image 1" descr="preencoded.png"/>
          <p:cNvPicPr>
            <a:picLocks noChangeAspect="1"/>
          </p:cNvPicPr>
          <p:nvPr/>
        </p:nvPicPr>
        <p:blipFill>
          <a:blip r:embed="rId4"/>
          <a:stretch>
            <a:fillRect/>
          </a:stretch>
        </p:blipFill>
        <p:spPr>
          <a:xfrm>
            <a:off x="2615184" y="1783080"/>
            <a:ext cx="512064" cy="512064"/>
          </a:xfrm>
          <a:prstGeom prst="rect">
            <a:avLst/>
          </a:prstGeom>
        </p:spPr>
      </p:pic>
      <p:sp>
        <p:nvSpPr>
          <p:cNvPr id="14" name="Text 10"/>
          <p:cNvSpPr/>
          <p:nvPr/>
        </p:nvSpPr>
        <p:spPr>
          <a:xfrm>
            <a:off x="2176272"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Estadística para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Ciencia de Datos</a:t>
            </a:r>
            <a:endParaRPr lang="es-AR" sz="1150" noProof="0" dirty="0"/>
          </a:p>
        </p:txBody>
      </p:sp>
      <p:sp>
        <p:nvSpPr>
          <p:cNvPr id="15" name="Text 11"/>
          <p:cNvSpPr/>
          <p:nvPr/>
        </p:nvSpPr>
        <p:spPr>
          <a:xfrm>
            <a:off x="2176272"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Descriptiva, inferencia, </a:t>
            </a:r>
            <a:r>
              <a:rPr lang="es-AR" sz="950" noProof="0" dirty="0" err="1">
                <a:solidFill>
                  <a:srgbClr val="5A7184"/>
                </a:solidFill>
                <a:latin typeface="Calibri" pitchFamily="34" charset="0"/>
                <a:ea typeface="Calibri" pitchFamily="34" charset="-122"/>
                <a:cs typeface="Calibri" pitchFamily="34" charset="-120"/>
              </a:rPr>
              <a:t>tests</a:t>
            </a:r>
            <a:r>
              <a:rPr lang="es-AR" sz="950" noProof="0" dirty="0">
                <a:solidFill>
                  <a:srgbClr val="5A7184"/>
                </a:solidFill>
                <a:latin typeface="Calibri" pitchFamily="34" charset="0"/>
                <a:ea typeface="Calibri" pitchFamily="34" charset="-122"/>
                <a:cs typeface="Calibri" pitchFamily="34" charset="-120"/>
              </a:rPr>
              <a:t> de hipótesis, regresión, series de tiempo</a:t>
            </a:r>
            <a:endParaRPr lang="es-AR" sz="950" noProof="0" dirty="0"/>
          </a:p>
        </p:txBody>
      </p:sp>
      <p:sp>
        <p:nvSpPr>
          <p:cNvPr id="16" name="Shape 12"/>
          <p:cNvSpPr/>
          <p:nvPr/>
        </p:nvSpPr>
        <p:spPr>
          <a:xfrm>
            <a:off x="3803904"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3"/>
          <p:cNvSpPr/>
          <p:nvPr/>
        </p:nvSpPr>
        <p:spPr>
          <a:xfrm>
            <a:off x="3803904" y="1051560"/>
            <a:ext cx="1572768" cy="54864"/>
          </a:xfrm>
          <a:prstGeom prst="rect">
            <a:avLst/>
          </a:prstGeom>
          <a:solidFill>
            <a:srgbClr val="1A6B8A"/>
          </a:solidFill>
          <a:ln/>
        </p:spPr>
        <p:txBody>
          <a:bodyPr/>
          <a:lstStyle/>
          <a:p>
            <a:endParaRPr lang="es-AR" noProof="0" dirty="0"/>
          </a:p>
        </p:txBody>
      </p:sp>
      <p:sp>
        <p:nvSpPr>
          <p:cNvPr id="18" name="Text 14"/>
          <p:cNvSpPr/>
          <p:nvPr/>
        </p:nvSpPr>
        <p:spPr>
          <a:xfrm>
            <a:off x="3803904"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03</a:t>
            </a:r>
            <a:endParaRPr lang="es-AR" sz="2800" noProof="0" dirty="0"/>
          </a:p>
        </p:txBody>
      </p:sp>
      <p:pic>
        <p:nvPicPr>
          <p:cNvPr id="19" name="Image 2" descr="preencoded.png"/>
          <p:cNvPicPr>
            <a:picLocks noChangeAspect="1"/>
          </p:cNvPicPr>
          <p:nvPr/>
        </p:nvPicPr>
        <p:blipFill>
          <a:blip r:embed="rId5"/>
          <a:stretch>
            <a:fillRect/>
          </a:stretch>
        </p:blipFill>
        <p:spPr>
          <a:xfrm>
            <a:off x="4334256" y="1783080"/>
            <a:ext cx="512064" cy="512064"/>
          </a:xfrm>
          <a:prstGeom prst="rect">
            <a:avLst/>
          </a:prstGeom>
        </p:spPr>
      </p:pic>
      <p:sp>
        <p:nvSpPr>
          <p:cNvPr id="20" name="Text 15"/>
          <p:cNvSpPr/>
          <p:nvPr/>
        </p:nvSpPr>
        <p:spPr>
          <a:xfrm>
            <a:off x="3895344"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Herramientas</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Cuantitativas</a:t>
            </a:r>
            <a:endParaRPr lang="es-AR" sz="1150" noProof="0" dirty="0"/>
          </a:p>
        </p:txBody>
      </p:sp>
      <p:sp>
        <p:nvSpPr>
          <p:cNvPr id="21" name="Text 16"/>
          <p:cNvSpPr/>
          <p:nvPr/>
        </p:nvSpPr>
        <p:spPr>
          <a:xfrm>
            <a:off x="3895344"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Índices económicos (HHI, Gini, RCA), números índice de precios, métricas sectoriales</a:t>
            </a:r>
            <a:endParaRPr lang="es-AR" sz="950" noProof="0" dirty="0"/>
          </a:p>
        </p:txBody>
      </p:sp>
      <p:sp>
        <p:nvSpPr>
          <p:cNvPr id="22" name="Shape 17"/>
          <p:cNvSpPr/>
          <p:nvPr/>
        </p:nvSpPr>
        <p:spPr>
          <a:xfrm>
            <a:off x="5522976"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Shape 18"/>
          <p:cNvSpPr/>
          <p:nvPr/>
        </p:nvSpPr>
        <p:spPr>
          <a:xfrm>
            <a:off x="5522976" y="1051560"/>
            <a:ext cx="1572768" cy="54864"/>
          </a:xfrm>
          <a:prstGeom prst="rect">
            <a:avLst/>
          </a:prstGeom>
          <a:solidFill>
            <a:srgbClr val="2E9EBF"/>
          </a:solidFill>
          <a:ln/>
        </p:spPr>
        <p:txBody>
          <a:bodyPr/>
          <a:lstStyle/>
          <a:p>
            <a:endParaRPr lang="es-AR" noProof="0" dirty="0"/>
          </a:p>
        </p:txBody>
      </p:sp>
      <p:sp>
        <p:nvSpPr>
          <p:cNvPr id="24" name="Text 19"/>
          <p:cNvSpPr/>
          <p:nvPr/>
        </p:nvSpPr>
        <p:spPr>
          <a:xfrm>
            <a:off x="5522976"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04</a:t>
            </a:r>
            <a:endParaRPr lang="es-AR" sz="2800" noProof="0" dirty="0"/>
          </a:p>
        </p:txBody>
      </p:sp>
      <p:pic>
        <p:nvPicPr>
          <p:cNvPr id="25" name="Image 3" descr="preencoded.png"/>
          <p:cNvPicPr>
            <a:picLocks noChangeAspect="1"/>
          </p:cNvPicPr>
          <p:nvPr/>
        </p:nvPicPr>
        <p:blipFill>
          <a:blip r:embed="rId6"/>
          <a:stretch>
            <a:fillRect/>
          </a:stretch>
        </p:blipFill>
        <p:spPr>
          <a:xfrm>
            <a:off x="6053328" y="1783080"/>
            <a:ext cx="512064" cy="512064"/>
          </a:xfrm>
          <a:prstGeom prst="rect">
            <a:avLst/>
          </a:prstGeom>
        </p:spPr>
      </p:pic>
      <p:sp>
        <p:nvSpPr>
          <p:cNvPr id="26" name="Text 20"/>
          <p:cNvSpPr/>
          <p:nvPr/>
        </p:nvSpPr>
        <p:spPr>
          <a:xfrm>
            <a:off x="5614416"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Visualización</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de Datos</a:t>
            </a:r>
            <a:endParaRPr lang="es-AR" sz="1150" noProof="0" dirty="0"/>
          </a:p>
        </p:txBody>
      </p:sp>
      <p:sp>
        <p:nvSpPr>
          <p:cNvPr id="27" name="Text 21"/>
          <p:cNvSpPr/>
          <p:nvPr/>
        </p:nvSpPr>
        <p:spPr>
          <a:xfrm>
            <a:off x="5614416"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ggplot2, </a:t>
            </a:r>
            <a:r>
              <a:rPr lang="es-AR" sz="950" noProof="0" dirty="0" err="1">
                <a:solidFill>
                  <a:srgbClr val="5A7184"/>
                </a:solidFill>
                <a:latin typeface="Calibri" pitchFamily="34" charset="0"/>
                <a:ea typeface="Calibri" pitchFamily="34" charset="-122"/>
                <a:cs typeface="Calibri" pitchFamily="34" charset="-120"/>
              </a:rPr>
              <a:t>storytelling</a:t>
            </a:r>
            <a:r>
              <a:rPr lang="es-AR" sz="950" noProof="0" dirty="0">
                <a:solidFill>
                  <a:srgbClr val="5A7184"/>
                </a:solidFill>
                <a:latin typeface="Calibri" pitchFamily="34" charset="0"/>
                <a:ea typeface="Calibri" pitchFamily="34" charset="-122"/>
                <a:cs typeface="Calibri" pitchFamily="34" charset="-120"/>
              </a:rPr>
              <a:t> con datos, selección de gráficos, buenas prácticas visuales</a:t>
            </a:r>
            <a:endParaRPr lang="es-AR" sz="950" noProof="0" dirty="0"/>
          </a:p>
        </p:txBody>
      </p:sp>
      <p:sp>
        <p:nvSpPr>
          <p:cNvPr id="28" name="Shape 22"/>
          <p:cNvSpPr/>
          <p:nvPr/>
        </p:nvSpPr>
        <p:spPr>
          <a:xfrm>
            <a:off x="7242048"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9" name="Shape 23"/>
          <p:cNvSpPr/>
          <p:nvPr/>
        </p:nvSpPr>
        <p:spPr>
          <a:xfrm>
            <a:off x="7242048" y="1051560"/>
            <a:ext cx="1572768" cy="54864"/>
          </a:xfrm>
          <a:prstGeom prst="rect">
            <a:avLst/>
          </a:prstGeom>
          <a:solidFill>
            <a:srgbClr val="1A6B8A"/>
          </a:solidFill>
          <a:ln/>
        </p:spPr>
        <p:txBody>
          <a:bodyPr/>
          <a:lstStyle/>
          <a:p>
            <a:endParaRPr lang="es-AR" noProof="0" dirty="0"/>
          </a:p>
        </p:txBody>
      </p:sp>
      <p:sp>
        <p:nvSpPr>
          <p:cNvPr id="30" name="Text 24"/>
          <p:cNvSpPr/>
          <p:nvPr/>
        </p:nvSpPr>
        <p:spPr>
          <a:xfrm>
            <a:off x="7242048"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05</a:t>
            </a:r>
            <a:endParaRPr lang="es-AR" sz="2800" noProof="0" dirty="0"/>
          </a:p>
        </p:txBody>
      </p:sp>
      <p:pic>
        <p:nvPicPr>
          <p:cNvPr id="31" name="Image 4" descr="preencoded.png"/>
          <p:cNvPicPr>
            <a:picLocks noChangeAspect="1"/>
          </p:cNvPicPr>
          <p:nvPr/>
        </p:nvPicPr>
        <p:blipFill>
          <a:blip r:embed="rId7"/>
          <a:stretch>
            <a:fillRect/>
          </a:stretch>
        </p:blipFill>
        <p:spPr>
          <a:xfrm>
            <a:off x="7772400" y="1783080"/>
            <a:ext cx="512064" cy="512064"/>
          </a:xfrm>
          <a:prstGeom prst="rect">
            <a:avLst/>
          </a:prstGeom>
        </p:spPr>
      </p:pic>
      <p:sp>
        <p:nvSpPr>
          <p:cNvPr id="32" name="Text 25"/>
          <p:cNvSpPr/>
          <p:nvPr/>
        </p:nvSpPr>
        <p:spPr>
          <a:xfrm>
            <a:off x="7333488"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Web </a:t>
            </a:r>
            <a:r>
              <a:rPr lang="es-AR" sz="1150" b="1" noProof="0" dirty="0" err="1">
                <a:solidFill>
                  <a:srgbClr val="0F2B46"/>
                </a:solidFill>
                <a:latin typeface="Georgia" pitchFamily="34" charset="0"/>
                <a:ea typeface="Georgia" pitchFamily="34" charset="-122"/>
                <a:cs typeface="Georgia" pitchFamily="34" charset="-120"/>
              </a:rPr>
              <a:t>Scraping</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(módulo extra)</a:t>
            </a:r>
            <a:endParaRPr lang="es-AR" sz="1150" noProof="0" dirty="0"/>
          </a:p>
        </p:txBody>
      </p:sp>
      <p:sp>
        <p:nvSpPr>
          <p:cNvPr id="33" name="Text 26"/>
          <p:cNvSpPr/>
          <p:nvPr/>
        </p:nvSpPr>
        <p:spPr>
          <a:xfrm>
            <a:off x="7333488"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HTML/</a:t>
            </a:r>
            <a:r>
              <a:rPr lang="es-AR" sz="950" noProof="0" dirty="0" err="1">
                <a:solidFill>
                  <a:srgbClr val="5A7184"/>
                </a:solidFill>
                <a:latin typeface="Calibri" pitchFamily="34" charset="0"/>
                <a:ea typeface="Calibri" pitchFamily="34" charset="-122"/>
                <a:cs typeface="Calibri" pitchFamily="34" charset="-120"/>
              </a:rPr>
              <a:t>rvest</a:t>
            </a:r>
            <a:r>
              <a:rPr lang="es-AR" sz="950" noProof="0" dirty="0">
                <a:solidFill>
                  <a:srgbClr val="5A7184"/>
                </a:solidFill>
                <a:latin typeface="Calibri" pitchFamily="34" charset="0"/>
                <a:ea typeface="Calibri" pitchFamily="34" charset="-122"/>
                <a:cs typeface="Calibri" pitchFamily="34" charset="-120"/>
              </a:rPr>
              <a:t>, </a:t>
            </a:r>
            <a:r>
              <a:rPr lang="es-AR" sz="950" noProof="0" dirty="0" err="1">
                <a:solidFill>
                  <a:srgbClr val="5A7184"/>
                </a:solidFill>
                <a:latin typeface="Calibri" pitchFamily="34" charset="0"/>
                <a:ea typeface="Calibri" pitchFamily="34" charset="-122"/>
                <a:cs typeface="Calibri" pitchFamily="34" charset="-120"/>
              </a:rPr>
              <a:t>scraping</a:t>
            </a:r>
            <a:r>
              <a:rPr lang="es-AR" sz="950" noProof="0" dirty="0">
                <a:solidFill>
                  <a:srgbClr val="5A7184"/>
                </a:solidFill>
                <a:latin typeface="Calibri" pitchFamily="34" charset="0"/>
                <a:ea typeface="Calibri" pitchFamily="34" charset="-122"/>
                <a:cs typeface="Calibri" pitchFamily="34" charset="-120"/>
              </a:rPr>
              <a:t> de tablas, paginación, ética y legalidad del </a:t>
            </a:r>
            <a:r>
              <a:rPr lang="es-AR" sz="950" noProof="0" dirty="0" err="1">
                <a:solidFill>
                  <a:srgbClr val="5A7184"/>
                </a:solidFill>
                <a:latin typeface="Calibri" pitchFamily="34" charset="0"/>
                <a:ea typeface="Calibri" pitchFamily="34" charset="-122"/>
                <a:cs typeface="Calibri" pitchFamily="34" charset="-120"/>
              </a:rPr>
              <a:t>scraping</a:t>
            </a:r>
            <a:endParaRPr lang="es-AR" sz="950" noProof="0" dirty="0"/>
          </a:p>
        </p:txBody>
      </p:sp>
      <p:sp>
        <p:nvSpPr>
          <p:cNvPr id="34" name="Shape 27"/>
          <p:cNvSpPr/>
          <p:nvPr/>
        </p:nvSpPr>
        <p:spPr>
          <a:xfrm>
            <a:off x="0" y="4709160"/>
            <a:ext cx="9144000" cy="434340"/>
          </a:xfrm>
          <a:prstGeom prst="rect">
            <a:avLst/>
          </a:prstGeom>
          <a:solidFill>
            <a:srgbClr val="0F2B46"/>
          </a:solidFill>
          <a:ln/>
        </p:spPr>
        <p:txBody>
          <a:bodyPr/>
          <a:lstStyle/>
          <a:p>
            <a:endParaRPr lang="es-AR" noProof="0" dirty="0"/>
          </a:p>
        </p:txBody>
      </p:sp>
      <p:sp>
        <p:nvSpPr>
          <p:cNvPr id="35" name="Text 28"/>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36" name="Text 2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4 / 11</a:t>
            </a:r>
            <a:endParaRPr lang="es-AR" sz="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Contenidos por Unidad</a:t>
            </a:r>
            <a:endParaRPr lang="es-AR" sz="3000" noProof="0" dirty="0"/>
          </a:p>
        </p:txBody>
      </p:sp>
      <p:sp>
        <p:nvSpPr>
          <p:cNvPr id="4" name="Shape 2"/>
          <p:cNvSpPr/>
          <p:nvPr/>
        </p:nvSpPr>
        <p:spPr>
          <a:xfrm>
            <a:off x="644893"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1645920"/>
          </a:xfrm>
          <a:prstGeom prst="rect">
            <a:avLst/>
          </a:prstGeom>
          <a:solidFill>
            <a:srgbClr val="1A6B8A"/>
          </a:solidFill>
          <a:ln/>
        </p:spPr>
        <p:txBody>
          <a:bodyPr/>
          <a:lstStyle/>
          <a:p>
            <a:endParaRPr lang="es-AR" noProof="0" dirty="0"/>
          </a:p>
        </p:txBody>
      </p:sp>
      <p:sp>
        <p:nvSpPr>
          <p:cNvPr id="6" name="Text 4"/>
          <p:cNvSpPr/>
          <p:nvPr/>
        </p:nvSpPr>
        <p:spPr>
          <a:xfrm>
            <a:off x="873493"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Programación en R</a:t>
            </a:r>
            <a:endParaRPr lang="es-AR" sz="1400" noProof="0" dirty="0"/>
          </a:p>
        </p:txBody>
      </p:sp>
      <p:sp>
        <p:nvSpPr>
          <p:cNvPr id="7" name="Text 5"/>
          <p:cNvSpPr/>
          <p:nvPr/>
        </p:nvSpPr>
        <p:spPr>
          <a:xfrm>
            <a:off x="873493"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Pensamiento computacional y pseudocódigo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Entorno R + </a:t>
            </a:r>
            <a:r>
              <a:rPr lang="es-AR" sz="1050" noProof="0" dirty="0" err="1">
                <a:solidFill>
                  <a:srgbClr val="5A7184"/>
                </a:solidFill>
                <a:latin typeface="Calibri" pitchFamily="34" charset="0"/>
                <a:ea typeface="Calibri" pitchFamily="34" charset="-122"/>
                <a:cs typeface="Calibri" pitchFamily="34" charset="-120"/>
              </a:rPr>
              <a:t>RStudio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Tidyverse</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dplyr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tidyr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readr</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Joins</a:t>
            </a:r>
            <a:r>
              <a:rPr lang="es-AR" sz="1050" noProof="0" dirty="0">
                <a:solidFill>
                  <a:srgbClr val="5A7184"/>
                </a:solidFill>
                <a:latin typeface="Calibri" pitchFamily="34" charset="0"/>
                <a:ea typeface="Calibri" pitchFamily="34" charset="-122"/>
                <a:cs typeface="Calibri" pitchFamily="34" charset="-120"/>
              </a:rPr>
              <a:t> y modelos relacionales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Organización de proyectos</a:t>
            </a:r>
            <a:endParaRPr lang="es-AR" sz="1050" noProof="0" dirty="0"/>
          </a:p>
        </p:txBody>
      </p:sp>
      <p:sp>
        <p:nvSpPr>
          <p:cNvPr id="8" name="Shape 6"/>
          <p:cNvSpPr/>
          <p:nvPr/>
        </p:nvSpPr>
        <p:spPr>
          <a:xfrm>
            <a:off x="4800600"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9" name="Shape 7"/>
          <p:cNvSpPr/>
          <p:nvPr/>
        </p:nvSpPr>
        <p:spPr>
          <a:xfrm>
            <a:off x="4800600" y="960120"/>
            <a:ext cx="54864" cy="1645920"/>
          </a:xfrm>
          <a:prstGeom prst="rect">
            <a:avLst/>
          </a:prstGeom>
          <a:solidFill>
            <a:srgbClr val="2E9EBF"/>
          </a:solidFill>
          <a:ln/>
        </p:spPr>
        <p:txBody>
          <a:bodyPr/>
          <a:lstStyle/>
          <a:p>
            <a:endParaRPr lang="es-AR" noProof="0" dirty="0"/>
          </a:p>
        </p:txBody>
      </p:sp>
      <p:sp>
        <p:nvSpPr>
          <p:cNvPr id="10" name="Text 8"/>
          <p:cNvSpPr/>
          <p:nvPr/>
        </p:nvSpPr>
        <p:spPr>
          <a:xfrm>
            <a:off x="5029200"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Estadística</a:t>
            </a:r>
            <a:endParaRPr lang="es-AR" sz="1400" noProof="0" dirty="0"/>
          </a:p>
        </p:txBody>
      </p:sp>
      <p:sp>
        <p:nvSpPr>
          <p:cNvPr id="11" name="Text 9"/>
          <p:cNvSpPr/>
          <p:nvPr/>
        </p:nvSpPr>
        <p:spPr>
          <a:xfrm>
            <a:off x="5029200"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Estadística descriptiva y EDA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Inferencia: TCL, LGN, intervalos</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Tests</a:t>
            </a:r>
            <a:r>
              <a:rPr lang="es-AR" sz="1050" noProof="0" dirty="0">
                <a:solidFill>
                  <a:srgbClr val="5A7184"/>
                </a:solidFill>
                <a:latin typeface="Calibri" pitchFamily="34" charset="0"/>
                <a:ea typeface="Calibri" pitchFamily="34" charset="-122"/>
                <a:cs typeface="Calibri" pitchFamily="34" charset="-120"/>
              </a:rPr>
              <a:t> de hipótesis (t-test, ANOVA)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Regresión lineal (introductorio)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Series de tiempo (introductorio)</a:t>
            </a:r>
            <a:endParaRPr lang="es-AR" sz="1050" noProof="0" dirty="0"/>
          </a:p>
        </p:txBody>
      </p:sp>
      <p:sp>
        <p:nvSpPr>
          <p:cNvPr id="12" name="Shape 10"/>
          <p:cNvSpPr/>
          <p:nvPr/>
        </p:nvSpPr>
        <p:spPr>
          <a:xfrm>
            <a:off x="64008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3" name="Shape 11"/>
          <p:cNvSpPr/>
          <p:nvPr/>
        </p:nvSpPr>
        <p:spPr>
          <a:xfrm>
            <a:off x="640080" y="2743200"/>
            <a:ext cx="54864" cy="1645920"/>
          </a:xfrm>
          <a:prstGeom prst="rect">
            <a:avLst/>
          </a:prstGeom>
          <a:solidFill>
            <a:srgbClr val="1A6B8A"/>
          </a:solidFill>
          <a:ln/>
        </p:spPr>
        <p:txBody>
          <a:bodyPr/>
          <a:lstStyle/>
          <a:p>
            <a:endParaRPr lang="es-AR" noProof="0" dirty="0"/>
          </a:p>
        </p:txBody>
      </p:sp>
      <p:sp>
        <p:nvSpPr>
          <p:cNvPr id="14" name="Text 12"/>
          <p:cNvSpPr/>
          <p:nvPr/>
        </p:nvSpPr>
        <p:spPr>
          <a:xfrm>
            <a:off x="86868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Herramientas Cuantitativas</a:t>
            </a:r>
            <a:endParaRPr lang="es-AR" sz="1400" noProof="0" dirty="0"/>
          </a:p>
        </p:txBody>
      </p:sp>
      <p:sp>
        <p:nvSpPr>
          <p:cNvPr id="15" name="Text 13"/>
          <p:cNvSpPr/>
          <p:nvPr/>
        </p:nvSpPr>
        <p:spPr>
          <a:xfrm>
            <a:off x="86868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 </a:t>
            </a:r>
            <a:r>
              <a:rPr lang="es-AR" sz="1050" noProof="0" dirty="0" err="1">
                <a:solidFill>
                  <a:srgbClr val="5A7184"/>
                </a:solidFill>
                <a:latin typeface="Calibri" pitchFamily="34" charset="0"/>
                <a:ea typeface="Calibri" pitchFamily="34" charset="-122"/>
                <a:cs typeface="Calibri" pitchFamily="34" charset="-120"/>
              </a:rPr>
              <a:t>Herfindahl-Hirschman</a:t>
            </a:r>
            <a:r>
              <a:rPr lang="es-AR" sz="1050" noProof="0" dirty="0">
                <a:solidFill>
                  <a:srgbClr val="5A7184"/>
                </a:solidFill>
                <a:latin typeface="Calibri" pitchFamily="34" charset="0"/>
                <a:ea typeface="Calibri" pitchFamily="34" charset="-122"/>
                <a:cs typeface="Calibri" pitchFamily="34" charset="-120"/>
              </a:rPr>
              <a:t> (HHI)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Coeficiente de Gini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Ventaja Comparativa Revelada (RCA)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Índices de precios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Métricas sectoriales y de mercado</a:t>
            </a:r>
            <a:endParaRPr lang="es-AR" sz="1050" noProof="0" dirty="0"/>
          </a:p>
        </p:txBody>
      </p:sp>
      <p:sp>
        <p:nvSpPr>
          <p:cNvPr id="16" name="Shape 14"/>
          <p:cNvSpPr/>
          <p:nvPr/>
        </p:nvSpPr>
        <p:spPr>
          <a:xfrm>
            <a:off x="480060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5"/>
          <p:cNvSpPr/>
          <p:nvPr/>
        </p:nvSpPr>
        <p:spPr>
          <a:xfrm>
            <a:off x="4800600" y="2743200"/>
            <a:ext cx="54864" cy="1645920"/>
          </a:xfrm>
          <a:prstGeom prst="rect">
            <a:avLst/>
          </a:prstGeom>
          <a:solidFill>
            <a:srgbClr val="2E9EBF"/>
          </a:solidFill>
          <a:ln/>
        </p:spPr>
        <p:txBody>
          <a:bodyPr/>
          <a:lstStyle/>
          <a:p>
            <a:endParaRPr lang="es-AR" noProof="0" dirty="0"/>
          </a:p>
        </p:txBody>
      </p:sp>
      <p:sp>
        <p:nvSpPr>
          <p:cNvPr id="18" name="Text 16"/>
          <p:cNvSpPr/>
          <p:nvPr/>
        </p:nvSpPr>
        <p:spPr>
          <a:xfrm>
            <a:off x="502920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Visualización</a:t>
            </a:r>
            <a:endParaRPr lang="es-AR" sz="1400" noProof="0" dirty="0"/>
          </a:p>
        </p:txBody>
      </p:sp>
      <p:sp>
        <p:nvSpPr>
          <p:cNvPr id="19" name="Text 17"/>
          <p:cNvSpPr/>
          <p:nvPr/>
        </p:nvSpPr>
        <p:spPr>
          <a:xfrm>
            <a:off x="502920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Gramática de gráficos (ggplot2)</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Principios de buenas visualizaciones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Selección de tipo de gráfico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Storytelling</a:t>
            </a:r>
            <a:r>
              <a:rPr lang="es-AR" sz="1050" noProof="0" dirty="0">
                <a:solidFill>
                  <a:srgbClr val="5A7184"/>
                </a:solidFill>
                <a:latin typeface="Calibri" pitchFamily="34" charset="0"/>
                <a:ea typeface="Calibri" pitchFamily="34" charset="-122"/>
                <a:cs typeface="Calibri" pitchFamily="34" charset="-120"/>
              </a:rPr>
              <a:t> con datos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Taller integrador</a:t>
            </a:r>
            <a:endParaRPr lang="es-AR" sz="1050" noProof="0" dirty="0"/>
          </a:p>
        </p:txBody>
      </p:sp>
      <p:sp>
        <p:nvSpPr>
          <p:cNvPr id="20" name="Shape 18"/>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9"/>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20"/>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5 / 11</a:t>
            </a:r>
            <a:endParaRPr lang="es-AR" sz="800" noProof="0" dirty="0"/>
          </a:p>
        </p:txBody>
      </p:sp>
      <p:sp>
        <p:nvSpPr>
          <p:cNvPr id="23" name="Shape 2">
            <a:extLst>
              <a:ext uri="{FF2B5EF4-FFF2-40B4-BE49-F238E27FC236}">
                <a16:creationId xmlns:a16="http://schemas.microsoft.com/office/drawing/2014/main" id="{453BA12F-BCCF-7C81-7239-C9B9C29BF0F0}"/>
              </a:ext>
            </a:extLst>
          </p:cNvPr>
          <p:cNvSpPr/>
          <p:nvPr/>
        </p:nvSpPr>
        <p:spPr>
          <a:xfrm>
            <a:off x="619224" y="4515040"/>
            <a:ext cx="8067576" cy="194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4" name="Shape 11">
            <a:extLst>
              <a:ext uri="{FF2B5EF4-FFF2-40B4-BE49-F238E27FC236}">
                <a16:creationId xmlns:a16="http://schemas.microsoft.com/office/drawing/2014/main" id="{7E4862F7-E0C1-262C-F98B-80CA6A43A88B}"/>
              </a:ext>
            </a:extLst>
          </p:cNvPr>
          <p:cNvSpPr/>
          <p:nvPr/>
        </p:nvSpPr>
        <p:spPr>
          <a:xfrm>
            <a:off x="643284" y="4517459"/>
            <a:ext cx="61285" cy="191701"/>
          </a:xfrm>
          <a:prstGeom prst="rect">
            <a:avLst/>
          </a:prstGeom>
          <a:solidFill>
            <a:srgbClr val="1A6B8A"/>
          </a:solidFill>
          <a:ln/>
        </p:spPr>
        <p:txBody>
          <a:bodyPr/>
          <a:lstStyle/>
          <a:p>
            <a:endParaRPr lang="es-AR" noProof="0" dirty="0"/>
          </a:p>
        </p:txBody>
      </p:sp>
      <p:sp>
        <p:nvSpPr>
          <p:cNvPr id="25" name="Text 12">
            <a:extLst>
              <a:ext uri="{FF2B5EF4-FFF2-40B4-BE49-F238E27FC236}">
                <a16:creationId xmlns:a16="http://schemas.microsoft.com/office/drawing/2014/main" id="{ED62DDA1-FA01-E165-564D-90AED7557732}"/>
              </a:ext>
            </a:extLst>
          </p:cNvPr>
          <p:cNvSpPr/>
          <p:nvPr/>
        </p:nvSpPr>
        <p:spPr>
          <a:xfrm>
            <a:off x="727508" y="4451042"/>
            <a:ext cx="7983352" cy="320040"/>
          </a:xfrm>
          <a:prstGeom prst="rect">
            <a:avLst/>
          </a:prstGeom>
          <a:noFill/>
          <a:ln/>
        </p:spPr>
        <p:txBody>
          <a:bodyPr wrap="square" lIns="0" tIns="0" rIns="0" bIns="0" rtlCol="0" anchor="ctr"/>
          <a:lstStyle/>
          <a:p>
            <a:pPr marL="0" indent="0" algn="l">
              <a:buNone/>
            </a:pPr>
            <a:r>
              <a:rPr lang="es-AR" sz="1400" b="1" noProof="0" dirty="0" err="1">
                <a:solidFill>
                  <a:srgbClr val="0F2B46"/>
                </a:solidFill>
                <a:latin typeface="Georgia" pitchFamily="34" charset="0"/>
                <a:ea typeface="Georgia" pitchFamily="34" charset="-122"/>
                <a:cs typeface="Georgia" pitchFamily="34" charset="-120"/>
              </a:rPr>
              <a:t>Scraping</a:t>
            </a:r>
            <a:r>
              <a:rPr lang="es-AR" sz="1400" b="1" noProof="0" dirty="0">
                <a:solidFill>
                  <a:srgbClr val="0F2B46"/>
                </a:solidFill>
                <a:latin typeface="Georgia" pitchFamily="34" charset="0"/>
                <a:ea typeface="Georgia" pitchFamily="34" charset="-122"/>
                <a:cs typeface="Georgia" pitchFamily="34" charset="-120"/>
              </a:rPr>
              <a:t> (unidad optativa): </a:t>
            </a:r>
            <a:r>
              <a:rPr lang="es-AR" sz="1400" b="1" noProof="0" dirty="0" err="1">
                <a:solidFill>
                  <a:srgbClr val="0F2B46"/>
                </a:solidFill>
                <a:latin typeface="Georgia" pitchFamily="34" charset="0"/>
                <a:ea typeface="Georgia" pitchFamily="34" charset="-122"/>
                <a:cs typeface="Georgia" pitchFamily="34" charset="-120"/>
              </a:rPr>
              <a:t>intro</a:t>
            </a:r>
            <a:r>
              <a:rPr lang="es-AR" sz="1400" b="1" noProof="0" dirty="0">
                <a:solidFill>
                  <a:srgbClr val="0F2B46"/>
                </a:solidFill>
                <a:latin typeface="Georgia" pitchFamily="34" charset="0"/>
                <a:ea typeface="Georgia" pitchFamily="34" charset="-122"/>
                <a:cs typeface="Georgia" pitchFamily="34" charset="-120"/>
              </a:rPr>
              <a:t> a webs, </a:t>
            </a:r>
            <a:r>
              <a:rPr lang="es-AR" sz="1400" b="1" noProof="0" dirty="0" err="1">
                <a:solidFill>
                  <a:srgbClr val="0F2B46"/>
                </a:solidFill>
                <a:latin typeface="Georgia" pitchFamily="34" charset="0"/>
                <a:ea typeface="Georgia" pitchFamily="34" charset="-122"/>
                <a:cs typeface="Georgia" pitchFamily="34" charset="-120"/>
              </a:rPr>
              <a:t>scraping</a:t>
            </a:r>
            <a:r>
              <a:rPr lang="es-AR" sz="1400" b="1" noProof="0" dirty="0">
                <a:solidFill>
                  <a:srgbClr val="0F2B46"/>
                </a:solidFill>
                <a:latin typeface="Georgia" pitchFamily="34" charset="0"/>
                <a:ea typeface="Georgia" pitchFamily="34" charset="-122"/>
                <a:cs typeface="Georgia" pitchFamily="34" charset="-120"/>
              </a:rPr>
              <a:t> estático y dinámico</a:t>
            </a:r>
            <a:endParaRPr lang="es-AR" sz="14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D9DF6-9D56-FF34-F26C-2A5D2413C2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6AE6AB-D821-9D2B-DEA1-E4A313EE159E}"/>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D8FA5FA-6873-D049-B3E6-839A260B9D6F}"/>
              </a:ext>
            </a:extLst>
          </p:cNvPr>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Quedan afuera…</a:t>
            </a:r>
            <a:endParaRPr lang="es-AR" sz="3000" noProof="0" dirty="0"/>
          </a:p>
        </p:txBody>
      </p:sp>
      <p:sp>
        <p:nvSpPr>
          <p:cNvPr id="4" name="Shape 2">
            <a:extLst>
              <a:ext uri="{FF2B5EF4-FFF2-40B4-BE49-F238E27FC236}">
                <a16:creationId xmlns:a16="http://schemas.microsoft.com/office/drawing/2014/main" id="{EC735F75-D649-AABE-D0E1-10477B6FA87A}"/>
              </a:ext>
            </a:extLst>
          </p:cNvPr>
          <p:cNvSpPr/>
          <p:nvPr/>
        </p:nvSpPr>
        <p:spPr>
          <a:xfrm>
            <a:off x="644893"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59422146-5A10-55A2-7122-446414284B9D}"/>
              </a:ext>
            </a:extLst>
          </p:cNvPr>
          <p:cNvSpPr/>
          <p:nvPr/>
        </p:nvSpPr>
        <p:spPr>
          <a:xfrm>
            <a:off x="640080" y="960120"/>
            <a:ext cx="54864" cy="1645920"/>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7F6C90DA-2500-8848-504F-A1938C07E831}"/>
              </a:ext>
            </a:extLst>
          </p:cNvPr>
          <p:cNvSpPr/>
          <p:nvPr/>
        </p:nvSpPr>
        <p:spPr>
          <a:xfrm>
            <a:off x="873493"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Machine </a:t>
            </a:r>
            <a:r>
              <a:rPr lang="es-AR" sz="1400" b="1" noProof="0" dirty="0" err="1">
                <a:solidFill>
                  <a:srgbClr val="0F2B46"/>
                </a:solidFill>
                <a:latin typeface="Georgia" pitchFamily="34" charset="0"/>
                <a:ea typeface="Georgia" pitchFamily="34" charset="-122"/>
                <a:cs typeface="Georgia" pitchFamily="34" charset="-120"/>
              </a:rPr>
              <a:t>Learning</a:t>
            </a:r>
            <a:endParaRPr lang="es-AR" sz="1400" noProof="0" dirty="0"/>
          </a:p>
        </p:txBody>
      </p:sp>
      <p:sp>
        <p:nvSpPr>
          <p:cNvPr id="7" name="Text 5">
            <a:extLst>
              <a:ext uri="{FF2B5EF4-FFF2-40B4-BE49-F238E27FC236}">
                <a16:creationId xmlns:a16="http://schemas.microsoft.com/office/drawing/2014/main" id="{BAF68CC0-AB51-9D62-A498-5F45356A25FB}"/>
              </a:ext>
            </a:extLst>
          </p:cNvPr>
          <p:cNvSpPr/>
          <p:nvPr/>
        </p:nvSpPr>
        <p:spPr>
          <a:xfrm>
            <a:off x="873493"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Algoritmos de aprendizaje supervisado y no supervisado</a:t>
            </a:r>
          </a:p>
          <a:p>
            <a:pPr marL="342900" indent="-342900">
              <a:spcAft>
                <a:spcPts val="300"/>
              </a:spcAft>
              <a:buSzPct val="100000"/>
              <a:buChar char="•"/>
            </a:pPr>
            <a:r>
              <a:rPr lang="es-AR" sz="1050" dirty="0">
                <a:solidFill>
                  <a:srgbClr val="5A7184"/>
                </a:solidFill>
                <a:latin typeface="Calibri" pitchFamily="34" charset="0"/>
                <a:cs typeface="Calibri" pitchFamily="34" charset="-120"/>
              </a:rPr>
              <a:t>Modelos de lenguaje </a:t>
            </a:r>
            <a:endParaRPr lang="es-AR" sz="1050" noProof="0" dirty="0"/>
          </a:p>
        </p:txBody>
      </p:sp>
      <p:sp>
        <p:nvSpPr>
          <p:cNvPr id="8" name="Shape 6">
            <a:extLst>
              <a:ext uri="{FF2B5EF4-FFF2-40B4-BE49-F238E27FC236}">
                <a16:creationId xmlns:a16="http://schemas.microsoft.com/office/drawing/2014/main" id="{0A10E180-7438-A35A-6E37-D92251296962}"/>
              </a:ext>
            </a:extLst>
          </p:cNvPr>
          <p:cNvSpPr/>
          <p:nvPr/>
        </p:nvSpPr>
        <p:spPr>
          <a:xfrm>
            <a:off x="4800600"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9" name="Shape 7">
            <a:extLst>
              <a:ext uri="{FF2B5EF4-FFF2-40B4-BE49-F238E27FC236}">
                <a16:creationId xmlns:a16="http://schemas.microsoft.com/office/drawing/2014/main" id="{9F211123-54AD-C572-994B-94FECC0142B9}"/>
              </a:ext>
            </a:extLst>
          </p:cNvPr>
          <p:cNvSpPr/>
          <p:nvPr/>
        </p:nvSpPr>
        <p:spPr>
          <a:xfrm>
            <a:off x="4800600" y="960120"/>
            <a:ext cx="54864" cy="1645920"/>
          </a:xfrm>
          <a:prstGeom prst="rect">
            <a:avLst/>
          </a:prstGeom>
          <a:solidFill>
            <a:srgbClr val="2E9EBF"/>
          </a:solidFill>
          <a:ln/>
        </p:spPr>
        <p:txBody>
          <a:bodyPr/>
          <a:lstStyle/>
          <a:p>
            <a:endParaRPr lang="es-AR" noProof="0" dirty="0"/>
          </a:p>
        </p:txBody>
      </p:sp>
      <p:sp>
        <p:nvSpPr>
          <p:cNvPr id="10" name="Text 8">
            <a:extLst>
              <a:ext uri="{FF2B5EF4-FFF2-40B4-BE49-F238E27FC236}">
                <a16:creationId xmlns:a16="http://schemas.microsoft.com/office/drawing/2014/main" id="{8BE468F8-6E3A-90BD-4C58-EE6DD1E9A8D9}"/>
              </a:ext>
            </a:extLst>
          </p:cNvPr>
          <p:cNvSpPr/>
          <p:nvPr/>
        </p:nvSpPr>
        <p:spPr>
          <a:xfrm>
            <a:off x="5029200"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Análisis de sentimiento</a:t>
            </a:r>
            <a:endParaRPr lang="es-AR" sz="1400" noProof="0" dirty="0"/>
          </a:p>
        </p:txBody>
      </p:sp>
      <p:sp>
        <p:nvSpPr>
          <p:cNvPr id="11" name="Text 9">
            <a:extLst>
              <a:ext uri="{FF2B5EF4-FFF2-40B4-BE49-F238E27FC236}">
                <a16:creationId xmlns:a16="http://schemas.microsoft.com/office/drawing/2014/main" id="{FD0CB1AD-C120-5BB0-185F-39EB4530683C}"/>
              </a:ext>
            </a:extLst>
          </p:cNvPr>
          <p:cNvSpPr/>
          <p:nvPr/>
        </p:nvSpPr>
        <p:spPr>
          <a:xfrm>
            <a:off x="5029200" y="1371600"/>
            <a:ext cx="3474720" cy="1143000"/>
          </a:xfrm>
          <a:prstGeom prst="rect">
            <a:avLst/>
          </a:prstGeom>
          <a:noFill/>
          <a:ln/>
        </p:spPr>
        <p:txBody>
          <a:bodyPr wrap="square" rtlCol="0" anchor="t"/>
          <a:lstStyle/>
          <a:p>
            <a:pPr marL="342900" indent="-342900">
              <a:spcAft>
                <a:spcPts val="300"/>
              </a:spcAft>
              <a:buSzPct val="100000"/>
              <a:buChar char="•"/>
            </a:pPr>
            <a:r>
              <a:rPr lang="es-MX" sz="1050" dirty="0">
                <a:solidFill>
                  <a:srgbClr val="5A7184"/>
                </a:solidFill>
                <a:latin typeface="Calibri" pitchFamily="34" charset="0"/>
                <a:cs typeface="Calibri" pitchFamily="34" charset="-120"/>
              </a:rPr>
              <a:t>A</a:t>
            </a:r>
            <a:r>
              <a:rPr lang="es-AR" sz="1050" dirty="0" err="1">
                <a:solidFill>
                  <a:srgbClr val="5A7184"/>
                </a:solidFill>
                <a:latin typeface="Calibri" pitchFamily="34" charset="0"/>
                <a:cs typeface="Calibri" pitchFamily="34" charset="-120"/>
              </a:rPr>
              <a:t>nálisis</a:t>
            </a:r>
            <a:r>
              <a:rPr lang="es-AR" sz="1050" dirty="0">
                <a:solidFill>
                  <a:srgbClr val="5A7184"/>
                </a:solidFill>
                <a:latin typeface="Calibri" pitchFamily="34" charset="0"/>
                <a:cs typeface="Calibri" pitchFamily="34" charset="-120"/>
              </a:rPr>
              <a:t> programático de texto</a:t>
            </a:r>
          </a:p>
          <a:p>
            <a:pPr marL="342900" indent="-342900">
              <a:spcAft>
                <a:spcPts val="300"/>
              </a:spcAft>
              <a:buSzPct val="100000"/>
              <a:buChar char="•"/>
            </a:pPr>
            <a:r>
              <a:rPr lang="es-AR" sz="1050" dirty="0">
                <a:solidFill>
                  <a:srgbClr val="5A7184"/>
                </a:solidFill>
                <a:latin typeface="Calibri" pitchFamily="34" charset="0"/>
                <a:cs typeface="Calibri" pitchFamily="34" charset="-120"/>
              </a:rPr>
              <a:t>Identificación de las ideas que se esconden detrás de esos textos </a:t>
            </a:r>
          </a:p>
          <a:p>
            <a:pPr marL="342900" indent="-342900">
              <a:spcAft>
                <a:spcPts val="300"/>
              </a:spcAft>
              <a:buSzPct val="100000"/>
              <a:buChar char="•"/>
            </a:pPr>
            <a:r>
              <a:rPr lang="es-AR" sz="1050" dirty="0">
                <a:solidFill>
                  <a:srgbClr val="5A7184"/>
                </a:solidFill>
                <a:latin typeface="Calibri" pitchFamily="34" charset="0"/>
                <a:cs typeface="Calibri" pitchFamily="34" charset="-120"/>
              </a:rPr>
              <a:t>Visualización de los sentimientos</a:t>
            </a:r>
          </a:p>
        </p:txBody>
      </p:sp>
      <p:sp>
        <p:nvSpPr>
          <p:cNvPr id="12" name="Shape 10">
            <a:extLst>
              <a:ext uri="{FF2B5EF4-FFF2-40B4-BE49-F238E27FC236}">
                <a16:creationId xmlns:a16="http://schemas.microsoft.com/office/drawing/2014/main" id="{40BAB532-6DED-9994-540E-E80C865EF737}"/>
              </a:ext>
            </a:extLst>
          </p:cNvPr>
          <p:cNvSpPr/>
          <p:nvPr/>
        </p:nvSpPr>
        <p:spPr>
          <a:xfrm>
            <a:off x="64008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3" name="Shape 11">
            <a:extLst>
              <a:ext uri="{FF2B5EF4-FFF2-40B4-BE49-F238E27FC236}">
                <a16:creationId xmlns:a16="http://schemas.microsoft.com/office/drawing/2014/main" id="{7A1D3598-5203-B817-A103-B1861A867D21}"/>
              </a:ext>
            </a:extLst>
          </p:cNvPr>
          <p:cNvSpPr/>
          <p:nvPr/>
        </p:nvSpPr>
        <p:spPr>
          <a:xfrm>
            <a:off x="640080" y="2743200"/>
            <a:ext cx="54864" cy="1645920"/>
          </a:xfrm>
          <a:prstGeom prst="rect">
            <a:avLst/>
          </a:prstGeom>
          <a:solidFill>
            <a:srgbClr val="1A6B8A"/>
          </a:solidFill>
          <a:ln/>
        </p:spPr>
        <p:txBody>
          <a:bodyPr/>
          <a:lstStyle/>
          <a:p>
            <a:endParaRPr lang="es-AR" noProof="0" dirty="0"/>
          </a:p>
        </p:txBody>
      </p:sp>
      <p:sp>
        <p:nvSpPr>
          <p:cNvPr id="14" name="Text 12">
            <a:extLst>
              <a:ext uri="{FF2B5EF4-FFF2-40B4-BE49-F238E27FC236}">
                <a16:creationId xmlns:a16="http://schemas.microsoft.com/office/drawing/2014/main" id="{A17A0900-FA97-C951-FB0E-F4863D824290}"/>
              </a:ext>
            </a:extLst>
          </p:cNvPr>
          <p:cNvSpPr/>
          <p:nvPr/>
        </p:nvSpPr>
        <p:spPr>
          <a:xfrm>
            <a:off x="86868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Otras cosas </a:t>
            </a:r>
            <a:endParaRPr lang="es-AR" sz="1400" noProof="0" dirty="0"/>
          </a:p>
        </p:txBody>
      </p:sp>
      <p:sp>
        <p:nvSpPr>
          <p:cNvPr id="15" name="Text 13">
            <a:extLst>
              <a:ext uri="{FF2B5EF4-FFF2-40B4-BE49-F238E27FC236}">
                <a16:creationId xmlns:a16="http://schemas.microsoft.com/office/drawing/2014/main" id="{9524D236-47B7-CBCD-57E1-7269A0F4F460}"/>
              </a:ext>
            </a:extLst>
          </p:cNvPr>
          <p:cNvSpPr/>
          <p:nvPr/>
        </p:nvSpPr>
        <p:spPr>
          <a:xfrm>
            <a:off x="86868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Trabajo intensivo de arreglo de textos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SQL y bases de datos </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Gráficos interactivos</a:t>
            </a:r>
            <a:endParaRPr lang="es-AR" sz="1050" noProof="0" dirty="0"/>
          </a:p>
          <a:p>
            <a:pPr marL="342900" indent="-342900">
              <a:spcAft>
                <a:spcPts val="300"/>
              </a:spcAft>
              <a:buSzPct val="100000"/>
              <a:buChar char="•"/>
            </a:pPr>
            <a:endParaRPr lang="es-AR" sz="1050" noProof="0" dirty="0"/>
          </a:p>
        </p:txBody>
      </p:sp>
      <p:sp>
        <p:nvSpPr>
          <p:cNvPr id="16" name="Shape 14">
            <a:extLst>
              <a:ext uri="{FF2B5EF4-FFF2-40B4-BE49-F238E27FC236}">
                <a16:creationId xmlns:a16="http://schemas.microsoft.com/office/drawing/2014/main" id="{C18C46E3-4936-D3EB-2FB1-3DEB0EDAC46D}"/>
              </a:ext>
            </a:extLst>
          </p:cNvPr>
          <p:cNvSpPr/>
          <p:nvPr/>
        </p:nvSpPr>
        <p:spPr>
          <a:xfrm>
            <a:off x="480060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5">
            <a:extLst>
              <a:ext uri="{FF2B5EF4-FFF2-40B4-BE49-F238E27FC236}">
                <a16:creationId xmlns:a16="http://schemas.microsoft.com/office/drawing/2014/main" id="{AD7C95A7-A8A7-8C4C-9E35-CEAE7FE7A1B7}"/>
              </a:ext>
            </a:extLst>
          </p:cNvPr>
          <p:cNvSpPr/>
          <p:nvPr/>
        </p:nvSpPr>
        <p:spPr>
          <a:xfrm>
            <a:off x="4800600" y="2743200"/>
            <a:ext cx="54864" cy="1645920"/>
          </a:xfrm>
          <a:prstGeom prst="rect">
            <a:avLst/>
          </a:prstGeom>
          <a:solidFill>
            <a:srgbClr val="2E9EBF"/>
          </a:solidFill>
          <a:ln/>
        </p:spPr>
        <p:txBody>
          <a:bodyPr/>
          <a:lstStyle/>
          <a:p>
            <a:endParaRPr lang="es-AR" noProof="0" dirty="0"/>
          </a:p>
        </p:txBody>
      </p:sp>
      <p:sp>
        <p:nvSpPr>
          <p:cNvPr id="18" name="Text 16">
            <a:extLst>
              <a:ext uri="{FF2B5EF4-FFF2-40B4-BE49-F238E27FC236}">
                <a16:creationId xmlns:a16="http://schemas.microsoft.com/office/drawing/2014/main" id="{25F4FEA9-A3F4-6596-7958-8CD63BCEE55D}"/>
              </a:ext>
            </a:extLst>
          </p:cNvPr>
          <p:cNvSpPr/>
          <p:nvPr/>
        </p:nvSpPr>
        <p:spPr>
          <a:xfrm>
            <a:off x="502920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Análisis geográfico</a:t>
            </a:r>
            <a:endParaRPr lang="es-AR" sz="1400" noProof="0" dirty="0"/>
          </a:p>
        </p:txBody>
      </p:sp>
      <p:sp>
        <p:nvSpPr>
          <p:cNvPr id="19" name="Text 17">
            <a:extLst>
              <a:ext uri="{FF2B5EF4-FFF2-40B4-BE49-F238E27FC236}">
                <a16:creationId xmlns:a16="http://schemas.microsoft.com/office/drawing/2014/main" id="{6B0B56F4-495E-A70A-0621-D75E832DE38A}"/>
              </a:ext>
            </a:extLst>
          </p:cNvPr>
          <p:cNvSpPr/>
          <p:nvPr/>
        </p:nvSpPr>
        <p:spPr>
          <a:xfrm>
            <a:off x="5029200" y="3154680"/>
            <a:ext cx="3474720" cy="1143000"/>
          </a:xfrm>
          <a:prstGeom prst="rect">
            <a:avLst/>
          </a:prstGeom>
          <a:noFill/>
          <a:ln/>
        </p:spPr>
        <p:txBody>
          <a:bodyPr wrap="square" rtlCol="0" anchor="t"/>
          <a:lstStyle/>
          <a:p>
            <a:pPr marL="342900" indent="-342900">
              <a:spcAft>
                <a:spcPts val="300"/>
              </a:spcAft>
              <a:buSzPct val="100000"/>
              <a:buChar char="•"/>
            </a:pPr>
            <a:r>
              <a:rPr lang="es-AR" sz="1050" dirty="0">
                <a:solidFill>
                  <a:srgbClr val="5A7184"/>
                </a:solidFill>
                <a:latin typeface="Calibri" pitchFamily="34" charset="0"/>
                <a:cs typeface="Calibri" pitchFamily="34" charset="-120"/>
              </a:rPr>
              <a:t>Trabajo con mapas programático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Georreferenciación</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Coordenadas y vinculación entre datos y aspectos geográficos</a:t>
            </a:r>
            <a:endParaRPr lang="es-AR" sz="1050" noProof="0" dirty="0"/>
          </a:p>
        </p:txBody>
      </p:sp>
      <p:sp>
        <p:nvSpPr>
          <p:cNvPr id="20" name="Shape 18">
            <a:extLst>
              <a:ext uri="{FF2B5EF4-FFF2-40B4-BE49-F238E27FC236}">
                <a16:creationId xmlns:a16="http://schemas.microsoft.com/office/drawing/2014/main" id="{A28392F7-0A7F-BFBE-2921-193B6A5DAAF2}"/>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9">
            <a:extLst>
              <a:ext uri="{FF2B5EF4-FFF2-40B4-BE49-F238E27FC236}">
                <a16:creationId xmlns:a16="http://schemas.microsoft.com/office/drawing/2014/main" id="{9ADC6889-B7F2-9473-5768-AE79BABCB73C}"/>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20">
            <a:extLst>
              <a:ext uri="{FF2B5EF4-FFF2-40B4-BE49-F238E27FC236}">
                <a16:creationId xmlns:a16="http://schemas.microsoft.com/office/drawing/2014/main" id="{EC59253F-A5FC-EDBA-CBA7-5231CD625562}"/>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5 / 11</a:t>
            </a:r>
            <a:endParaRPr lang="es-AR" sz="800" noProof="0" dirty="0"/>
          </a:p>
        </p:txBody>
      </p:sp>
    </p:spTree>
    <p:extLst>
      <p:ext uri="{BB962C8B-B14F-4D97-AF65-F5344CB8AC3E}">
        <p14:creationId xmlns:p14="http://schemas.microsoft.com/office/powerpoint/2010/main" val="3429869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Lenguaje principal del curso</a:t>
            </a:r>
            <a:endParaRPr lang="es-AR" sz="1500" noProof="0" dirty="0"/>
          </a:p>
        </p:txBody>
      </p:sp>
      <p:sp>
        <p:nvSpPr>
          <p:cNvPr id="8" name="Text 6"/>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Lenguaje libre, gratuito y con un ecosistema enorme para análisis de datos, estadística y visualización. Es el estándar en muchas áreas de investigación económica.</a:t>
            </a:r>
            <a:endParaRPr lang="es-AR" sz="1100" noProof="0" dirty="0"/>
          </a:p>
        </p:txBody>
      </p:sp>
      <p:sp>
        <p:nvSpPr>
          <p:cNvPr id="9" name="Shape 7"/>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noProof="0" dirty="0" err="1">
                <a:solidFill>
                  <a:srgbClr val="0F2B46"/>
                </a:solidFill>
                <a:latin typeface="Georgia" pitchFamily="34" charset="0"/>
                <a:ea typeface="Georgia" pitchFamily="34" charset="-122"/>
                <a:cs typeface="Georgia" pitchFamily="34" charset="-120"/>
              </a:rPr>
              <a:t>RStudio</a:t>
            </a:r>
            <a:endParaRPr lang="es-AR" sz="1500" noProof="0" dirty="0"/>
          </a:p>
        </p:txBody>
      </p:sp>
      <p:sp>
        <p:nvSpPr>
          <p:cNvPr id="12" name="Text 10"/>
          <p:cNvSpPr/>
          <p:nvPr/>
        </p:nvSpPr>
        <p:spPr>
          <a:xfrm>
            <a:off x="6126480" y="1691640"/>
            <a:ext cx="219456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IDE para trabajar con R de forma cómoda. Integra consola, editor de scripts, visor de gráficos y ayuda.</a:t>
            </a:r>
            <a:endParaRPr lang="es-AR" sz="1100" noProof="0" dirty="0"/>
          </a:p>
        </p:txBody>
      </p:sp>
      <p:sp>
        <p:nvSpPr>
          <p:cNvPr id="13" name="Shape 11"/>
          <p:cNvSpPr/>
          <p:nvPr/>
        </p:nvSpPr>
        <p:spPr>
          <a:xfrm>
            <a:off x="640080"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Text 12"/>
          <p:cNvSpPr/>
          <p:nvPr/>
        </p:nvSpPr>
        <p:spPr>
          <a:xfrm>
            <a:off x="731520"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tidyverse</a:t>
            </a:r>
            <a:endParaRPr lang="es-AR" sz="1200" noProof="0" dirty="0"/>
          </a:p>
        </p:txBody>
      </p:sp>
      <p:sp>
        <p:nvSpPr>
          <p:cNvPr id="15" name="Text 13"/>
          <p:cNvSpPr/>
          <p:nvPr/>
        </p:nvSpPr>
        <p:spPr>
          <a:xfrm>
            <a:off x="731520"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Ecosistema de paquetes para manipulación y visualización de datos</a:t>
            </a:r>
            <a:endParaRPr lang="es-AR" sz="950" noProof="0" dirty="0"/>
          </a:p>
        </p:txBody>
      </p:sp>
      <p:sp>
        <p:nvSpPr>
          <p:cNvPr id="16" name="Shape 14"/>
          <p:cNvSpPr/>
          <p:nvPr/>
        </p:nvSpPr>
        <p:spPr>
          <a:xfrm>
            <a:off x="2770632"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2862072" y="3246120"/>
            <a:ext cx="1764792" cy="320040"/>
          </a:xfrm>
          <a:prstGeom prst="rect">
            <a:avLst/>
          </a:prstGeom>
          <a:noFill/>
          <a:ln/>
        </p:spPr>
        <p:txBody>
          <a:bodyPr wrap="square" lIns="0" tIns="0" rIns="0" bIns="0" rtlCol="0" anchor="ctr"/>
          <a:lstStyle/>
          <a:p>
            <a:pPr marL="0" indent="0" algn="ctr">
              <a:buNone/>
            </a:pPr>
            <a:r>
              <a:rPr lang="es-AR" sz="1200" b="1" noProof="0" dirty="0">
                <a:solidFill>
                  <a:srgbClr val="1A6B8A"/>
                </a:solidFill>
                <a:latin typeface="Consolas" pitchFamily="34" charset="0"/>
                <a:ea typeface="Consolas" pitchFamily="34" charset="-122"/>
                <a:cs typeface="Consolas" pitchFamily="34" charset="-120"/>
              </a:rPr>
              <a:t>ggplot2</a:t>
            </a:r>
            <a:endParaRPr lang="es-AR" sz="1200" noProof="0" dirty="0"/>
          </a:p>
        </p:txBody>
      </p:sp>
      <p:sp>
        <p:nvSpPr>
          <p:cNvPr id="18" name="Text 16"/>
          <p:cNvSpPr/>
          <p:nvPr/>
        </p:nvSpPr>
        <p:spPr>
          <a:xfrm>
            <a:off x="2862072"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Sistema de gráficos basado en la gramática de gráficos</a:t>
            </a:r>
            <a:endParaRPr lang="es-AR" sz="950" noProof="0" dirty="0"/>
          </a:p>
        </p:txBody>
      </p:sp>
      <p:sp>
        <p:nvSpPr>
          <p:cNvPr id="19" name="Shape 17"/>
          <p:cNvSpPr/>
          <p:nvPr/>
        </p:nvSpPr>
        <p:spPr>
          <a:xfrm>
            <a:off x="4901184"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0" name="Text 18"/>
          <p:cNvSpPr/>
          <p:nvPr/>
        </p:nvSpPr>
        <p:spPr>
          <a:xfrm>
            <a:off x="4992624"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rvest</a:t>
            </a:r>
            <a:endParaRPr lang="es-AR" sz="1200" noProof="0" dirty="0"/>
          </a:p>
        </p:txBody>
      </p:sp>
      <p:sp>
        <p:nvSpPr>
          <p:cNvPr id="21" name="Text 19"/>
          <p:cNvSpPr/>
          <p:nvPr/>
        </p:nvSpPr>
        <p:spPr>
          <a:xfrm>
            <a:off x="4992624"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Web </a:t>
            </a:r>
            <a:r>
              <a:rPr lang="es-AR" sz="950" noProof="0" dirty="0" err="1">
                <a:solidFill>
                  <a:srgbClr val="5A7184"/>
                </a:solidFill>
                <a:latin typeface="Calibri" pitchFamily="34" charset="0"/>
                <a:ea typeface="Calibri" pitchFamily="34" charset="-122"/>
                <a:cs typeface="Calibri" pitchFamily="34" charset="-120"/>
              </a:rPr>
              <a:t>scraping</a:t>
            </a:r>
            <a:r>
              <a:rPr lang="es-AR" sz="950" noProof="0" dirty="0">
                <a:solidFill>
                  <a:srgbClr val="5A7184"/>
                </a:solidFill>
                <a:latin typeface="Calibri" pitchFamily="34" charset="0"/>
                <a:ea typeface="Calibri" pitchFamily="34" charset="-122"/>
                <a:cs typeface="Calibri" pitchFamily="34" charset="-120"/>
              </a:rPr>
              <a:t> de páginas HTML de forma sencilla</a:t>
            </a:r>
            <a:endParaRPr lang="es-AR" sz="950" noProof="0" dirty="0"/>
          </a:p>
        </p:txBody>
      </p:sp>
      <p:sp>
        <p:nvSpPr>
          <p:cNvPr id="22" name="Shape 20"/>
          <p:cNvSpPr/>
          <p:nvPr/>
        </p:nvSpPr>
        <p:spPr>
          <a:xfrm>
            <a:off x="7031736"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Text 21"/>
          <p:cNvSpPr/>
          <p:nvPr/>
        </p:nvSpPr>
        <p:spPr>
          <a:xfrm>
            <a:off x="7123176"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skimr</a:t>
            </a:r>
            <a:endParaRPr lang="es-AR" sz="1200" noProof="0" dirty="0"/>
          </a:p>
        </p:txBody>
      </p:sp>
      <p:sp>
        <p:nvSpPr>
          <p:cNvPr id="24" name="Text 22"/>
          <p:cNvSpPr/>
          <p:nvPr/>
        </p:nvSpPr>
        <p:spPr>
          <a:xfrm>
            <a:off x="7123176"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Resúmenes estadísticos rápidos para exploración inicial</a:t>
            </a:r>
            <a:endParaRPr lang="es-AR" sz="950" noProof="0" dirty="0"/>
          </a:p>
        </p:txBody>
      </p:sp>
      <p:sp>
        <p:nvSpPr>
          <p:cNvPr id="25" name="Shape 23"/>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7" name="Text 25"/>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5B89-E3A8-F882-691A-02786138A5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79CDCC-98E5-0E13-FB7E-2B3AA78FAA0B}"/>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BD9FD3A-FE95-F909-2486-B198F0E56607}"/>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a:extLst>
              <a:ext uri="{FF2B5EF4-FFF2-40B4-BE49-F238E27FC236}">
                <a16:creationId xmlns:a16="http://schemas.microsoft.com/office/drawing/2014/main" id="{A6E61049-D3B5-FE40-A90D-5A15A140D5A5}"/>
              </a:ext>
            </a:extLst>
          </p:cNvPr>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22FE901D-5FD9-196D-59DE-BF978CFB383F}"/>
              </a:ext>
            </a:extLst>
          </p:cNvPr>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143B7E08-E46D-2638-EAE2-24A8DFFCDE15}"/>
              </a:ext>
            </a:extLst>
          </p:cNvPr>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a:extLst>
              <a:ext uri="{FF2B5EF4-FFF2-40B4-BE49-F238E27FC236}">
                <a16:creationId xmlns:a16="http://schemas.microsoft.com/office/drawing/2014/main" id="{2AD2B9A1-E2EA-5603-5690-39E1C3C6EE65}"/>
              </a:ext>
            </a:extLst>
          </p:cNvPr>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¿Si es la PC del laburo y no puedo instalar nada?</a:t>
            </a:r>
            <a:endParaRPr lang="es-AR" sz="1500" noProof="0" dirty="0"/>
          </a:p>
        </p:txBody>
      </p:sp>
      <p:sp>
        <p:nvSpPr>
          <p:cNvPr id="8" name="Text 6">
            <a:extLst>
              <a:ext uri="{FF2B5EF4-FFF2-40B4-BE49-F238E27FC236}">
                <a16:creationId xmlns:a16="http://schemas.microsoft.com/office/drawing/2014/main" id="{D612A43A-8555-3350-B431-F505247FDE4B}"/>
              </a:ext>
            </a:extLst>
          </p:cNvPr>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Google tiene gratis el sistema de Google </a:t>
            </a:r>
            <a:r>
              <a:rPr lang="es-AR" sz="1100" noProof="0" dirty="0" err="1">
                <a:solidFill>
                  <a:srgbClr val="5A7184"/>
                </a:solidFill>
                <a:latin typeface="Calibri" pitchFamily="34" charset="0"/>
                <a:ea typeface="Calibri" pitchFamily="34" charset="-122"/>
                <a:cs typeface="Calibri" pitchFamily="34" charset="-120"/>
              </a:rPr>
              <a:t>Colab</a:t>
            </a:r>
            <a:r>
              <a:rPr lang="es-AR" sz="1100" noProof="0" dirty="0">
                <a:solidFill>
                  <a:srgbClr val="5A7184"/>
                </a:solidFill>
                <a:latin typeface="Calibri" pitchFamily="34" charset="0"/>
                <a:ea typeface="Calibri" pitchFamily="34" charset="-122"/>
                <a:cs typeface="Calibri" pitchFamily="34" charset="-120"/>
              </a:rPr>
              <a:t>, que se puede utilizar con la cuenta de Drive. Es una herramienta online y para los usos del curso, no va a afectar mucho usar uno o el otro. Pero, por lo general es mejor usar R + </a:t>
            </a:r>
            <a:r>
              <a:rPr lang="es-AR" sz="1100" noProof="0" dirty="0" err="1">
                <a:solidFill>
                  <a:srgbClr val="5A7184"/>
                </a:solidFill>
                <a:latin typeface="Calibri" pitchFamily="34" charset="0"/>
                <a:ea typeface="Calibri" pitchFamily="34" charset="-122"/>
                <a:cs typeface="Calibri" pitchFamily="34" charset="-120"/>
              </a:rPr>
              <a:t>RStudio</a:t>
            </a:r>
            <a:endParaRPr lang="es-AR" sz="1100" noProof="0" dirty="0">
              <a:solidFill>
                <a:srgbClr val="5A7184"/>
              </a:solidFill>
              <a:latin typeface="Calibri" pitchFamily="34" charset="0"/>
              <a:ea typeface="Calibri" pitchFamily="34" charset="-122"/>
              <a:cs typeface="Calibri" pitchFamily="34" charset="-120"/>
            </a:endParaRPr>
          </a:p>
        </p:txBody>
      </p:sp>
      <p:sp>
        <p:nvSpPr>
          <p:cNvPr id="9" name="Shape 7">
            <a:extLst>
              <a:ext uri="{FF2B5EF4-FFF2-40B4-BE49-F238E27FC236}">
                <a16:creationId xmlns:a16="http://schemas.microsoft.com/office/drawing/2014/main" id="{3D22B40E-E21A-B3F2-EDE6-739C5707FFB4}"/>
              </a:ext>
            </a:extLst>
          </p:cNvPr>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a:extLst>
              <a:ext uri="{FF2B5EF4-FFF2-40B4-BE49-F238E27FC236}">
                <a16:creationId xmlns:a16="http://schemas.microsoft.com/office/drawing/2014/main" id="{B07E02A8-6E7D-95DC-94C8-F1966EC71A00}"/>
              </a:ext>
            </a:extLst>
          </p:cNvPr>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a:extLst>
              <a:ext uri="{FF2B5EF4-FFF2-40B4-BE49-F238E27FC236}">
                <a16:creationId xmlns:a16="http://schemas.microsoft.com/office/drawing/2014/main" id="{012BDD41-8E2A-F304-B7AC-A95284843098}"/>
              </a:ext>
            </a:extLst>
          </p:cNvPr>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dirty="0">
                <a:solidFill>
                  <a:srgbClr val="0F2B46"/>
                </a:solidFill>
                <a:latin typeface="Georgia" pitchFamily="34" charset="0"/>
              </a:rPr>
              <a:t>¿y Python?</a:t>
            </a:r>
            <a:endParaRPr lang="es-AR" sz="1500" noProof="0" dirty="0"/>
          </a:p>
        </p:txBody>
      </p:sp>
      <p:sp>
        <p:nvSpPr>
          <p:cNvPr id="12" name="Text 10">
            <a:extLst>
              <a:ext uri="{FF2B5EF4-FFF2-40B4-BE49-F238E27FC236}">
                <a16:creationId xmlns:a16="http://schemas.microsoft.com/office/drawing/2014/main" id="{E6DE9332-F056-1667-81EA-40CF3F965735}"/>
              </a:ext>
            </a:extLst>
          </p:cNvPr>
          <p:cNvSpPr/>
          <p:nvPr/>
        </p:nvSpPr>
        <p:spPr>
          <a:xfrm>
            <a:off x="5943600" y="1691640"/>
            <a:ext cx="256032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No hay problema si lo quieren usar y aprender por su cuenta. En el curso no lo vamos a ver, pero los </a:t>
            </a:r>
            <a:r>
              <a:rPr lang="es-AR" sz="1100" noProof="0" dirty="0" err="1">
                <a:solidFill>
                  <a:srgbClr val="5A7184"/>
                </a:solidFill>
                <a:latin typeface="Calibri" pitchFamily="34" charset="0"/>
                <a:ea typeface="Calibri" pitchFamily="34" charset="-122"/>
                <a:cs typeface="Calibri" pitchFamily="34" charset="-120"/>
              </a:rPr>
              <a:t>TPs</a:t>
            </a:r>
            <a:r>
              <a:rPr lang="es-AR" sz="1100" noProof="0" dirty="0">
                <a:solidFill>
                  <a:srgbClr val="5A7184"/>
                </a:solidFill>
                <a:latin typeface="Calibri" pitchFamily="34" charset="0"/>
                <a:ea typeface="Calibri" pitchFamily="34" charset="-122"/>
                <a:cs typeface="Calibri" pitchFamily="34" charset="-120"/>
              </a:rPr>
              <a:t> lo pueden hacer en Python. </a:t>
            </a:r>
          </a:p>
          <a:p>
            <a:pPr marL="0" indent="0" algn="ctr">
              <a:lnSpc>
                <a:spcPct val="130000"/>
              </a:lnSpc>
              <a:buNone/>
            </a:pPr>
            <a:r>
              <a:rPr lang="es-AR" sz="1100" dirty="0">
                <a:solidFill>
                  <a:srgbClr val="5A7184"/>
                </a:solidFill>
                <a:latin typeface="Calibri" pitchFamily="34" charset="0"/>
                <a:ea typeface="Calibri" pitchFamily="34" charset="-122"/>
                <a:cs typeface="Calibri" pitchFamily="34" charset="-120"/>
              </a:rPr>
              <a:t>No pueden hacerlo en STATA (otra lógica)</a:t>
            </a:r>
            <a:endParaRPr lang="es-AR" sz="1100" noProof="0" dirty="0"/>
          </a:p>
        </p:txBody>
      </p:sp>
      <p:sp>
        <p:nvSpPr>
          <p:cNvPr id="25" name="Shape 23">
            <a:extLst>
              <a:ext uri="{FF2B5EF4-FFF2-40B4-BE49-F238E27FC236}">
                <a16:creationId xmlns:a16="http://schemas.microsoft.com/office/drawing/2014/main" id="{FBA7AC57-8517-CCE6-95B5-BD461C1C5BA3}"/>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a:extLst>
              <a:ext uri="{FF2B5EF4-FFF2-40B4-BE49-F238E27FC236}">
                <a16:creationId xmlns:a16="http://schemas.microsoft.com/office/drawing/2014/main" id="{4740BD2E-078D-3D51-B416-12B6FD6FABDB}"/>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7" name="Text 25">
            <a:extLst>
              <a:ext uri="{FF2B5EF4-FFF2-40B4-BE49-F238E27FC236}">
                <a16:creationId xmlns:a16="http://schemas.microsoft.com/office/drawing/2014/main" id="{E937E543-BFC2-89D6-EFF2-03BCE744EBFC}"/>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extLst>
      <p:ext uri="{BB962C8B-B14F-4D97-AF65-F5344CB8AC3E}">
        <p14:creationId xmlns:p14="http://schemas.microsoft.com/office/powerpoint/2010/main" val="3904195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Bibliografía</a:t>
            </a:r>
            <a:endParaRPr lang="es-AR" sz="3000" noProof="0" dirty="0"/>
          </a:p>
        </p:txBody>
      </p:sp>
      <p:sp>
        <p:nvSpPr>
          <p:cNvPr id="4" name="Shape 2"/>
          <p:cNvSpPr/>
          <p:nvPr/>
        </p:nvSpPr>
        <p:spPr>
          <a:xfrm>
            <a:off x="640080" y="960120"/>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603504"/>
          </a:xfrm>
          <a:prstGeom prst="rect">
            <a:avLst/>
          </a:prstGeom>
          <a:solidFill>
            <a:srgbClr val="1A6B8A"/>
          </a:solidFill>
          <a:ln/>
        </p:spPr>
        <p:txBody>
          <a:bodyPr/>
          <a:lstStyle/>
          <a:p>
            <a:endParaRPr lang="es-AR" noProof="0" dirty="0"/>
          </a:p>
        </p:txBody>
      </p:sp>
      <p:sp>
        <p:nvSpPr>
          <p:cNvPr id="6" name="Shape 4"/>
          <p:cNvSpPr/>
          <p:nvPr/>
        </p:nvSpPr>
        <p:spPr>
          <a:xfrm>
            <a:off x="868680" y="1033272"/>
            <a:ext cx="1051560" cy="228600"/>
          </a:xfrm>
          <a:prstGeom prst="rect">
            <a:avLst/>
          </a:prstGeom>
          <a:solidFill>
            <a:srgbClr val="1A6B8A">
              <a:alpha val="15000"/>
            </a:srgbClr>
          </a:solidFill>
          <a:ln/>
        </p:spPr>
        <p:txBody>
          <a:bodyPr/>
          <a:lstStyle/>
          <a:p>
            <a:endParaRPr lang="es-AR" noProof="0" dirty="0"/>
          </a:p>
        </p:txBody>
      </p:sp>
      <p:sp>
        <p:nvSpPr>
          <p:cNvPr id="7" name="Text 5"/>
          <p:cNvSpPr/>
          <p:nvPr/>
        </p:nvSpPr>
        <p:spPr>
          <a:xfrm>
            <a:off x="868680" y="1033272"/>
            <a:ext cx="1051560" cy="228600"/>
          </a:xfrm>
          <a:prstGeom prst="rect">
            <a:avLst/>
          </a:prstGeom>
          <a:noFill/>
          <a:ln/>
        </p:spPr>
        <p:txBody>
          <a:bodyPr wrap="square" lIns="0" tIns="0" rIns="0" bIns="0" rtlCol="0" anchor="ctr"/>
          <a:lstStyle/>
          <a:p>
            <a:pPr marL="0" indent="0" algn="ctr">
              <a:buNone/>
            </a:pPr>
            <a:r>
              <a:rPr lang="es-AR" sz="800" b="1" noProof="0" dirty="0">
                <a:solidFill>
                  <a:srgbClr val="1A6B8A"/>
                </a:solidFill>
                <a:latin typeface="Calibri" pitchFamily="34" charset="0"/>
                <a:ea typeface="Calibri" pitchFamily="34" charset="-122"/>
                <a:cs typeface="Calibri" pitchFamily="34" charset="-120"/>
              </a:rPr>
              <a:t>Programación</a:t>
            </a:r>
            <a:endParaRPr lang="es-AR" sz="800" noProof="0" dirty="0"/>
          </a:p>
        </p:txBody>
      </p:sp>
      <p:sp>
        <p:nvSpPr>
          <p:cNvPr id="8" name="Text 6"/>
          <p:cNvSpPr/>
          <p:nvPr/>
        </p:nvSpPr>
        <p:spPr>
          <a:xfrm>
            <a:off x="2057400" y="1005840"/>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R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Science</a:t>
            </a:r>
            <a:r>
              <a:rPr lang="es-AR" sz="1250" b="1" noProof="0" dirty="0">
                <a:solidFill>
                  <a:srgbClr val="0F2B46"/>
                </a:solidFill>
                <a:latin typeface="Georgia" pitchFamily="34" charset="0"/>
                <a:ea typeface="Georgia" pitchFamily="34" charset="-122"/>
                <a:cs typeface="Georgia" pitchFamily="34" charset="-120"/>
              </a:rPr>
              <a:t> (2e)</a:t>
            </a:r>
            <a:endParaRPr lang="es-AR" sz="1250" noProof="0" dirty="0"/>
          </a:p>
        </p:txBody>
      </p:sp>
      <p:sp>
        <p:nvSpPr>
          <p:cNvPr id="9" name="Text 7"/>
          <p:cNvSpPr/>
          <p:nvPr/>
        </p:nvSpPr>
        <p:spPr>
          <a:xfrm>
            <a:off x="2057400" y="1280160"/>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a:t>
            </a:r>
            <a:r>
              <a:rPr lang="es-AR" sz="1000" noProof="0" dirty="0" err="1">
                <a:solidFill>
                  <a:srgbClr val="5A7184"/>
                </a:solidFill>
                <a:latin typeface="Calibri" pitchFamily="34" charset="0"/>
                <a:ea typeface="Calibri" pitchFamily="34" charset="-122"/>
                <a:cs typeface="Calibri" pitchFamily="34" charset="-120"/>
              </a:rPr>
              <a:t>Grolemund</a:t>
            </a:r>
            <a:endParaRPr lang="es-AR" sz="1000" noProof="0" dirty="0"/>
          </a:p>
        </p:txBody>
      </p:sp>
      <p:sp>
        <p:nvSpPr>
          <p:cNvPr id="10" name="Text 8"/>
          <p:cNvSpPr/>
          <p:nvPr/>
        </p:nvSpPr>
        <p:spPr>
          <a:xfrm>
            <a:off x="6400800" y="1097280"/>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r4ds.hadley.nz</a:t>
            </a:r>
            <a:endParaRPr lang="es-AR" sz="950" noProof="0" dirty="0"/>
          </a:p>
        </p:txBody>
      </p:sp>
      <p:sp>
        <p:nvSpPr>
          <p:cNvPr id="11" name="Shape 9"/>
          <p:cNvSpPr/>
          <p:nvPr/>
        </p:nvSpPr>
        <p:spPr>
          <a:xfrm>
            <a:off x="640080" y="1673352"/>
            <a:ext cx="7863840" cy="603504"/>
          </a:xfrm>
          <a:prstGeom prst="rect">
            <a:avLst/>
          </a:prstGeom>
          <a:solidFill>
            <a:srgbClr val="E8EEF2"/>
          </a:solidFill>
          <a:ln/>
        </p:spPr>
        <p:txBody>
          <a:bodyPr/>
          <a:lstStyle/>
          <a:p>
            <a:endParaRPr lang="es-AR" noProof="0" dirty="0"/>
          </a:p>
        </p:txBody>
      </p:sp>
      <p:sp>
        <p:nvSpPr>
          <p:cNvPr id="12" name="Shape 10"/>
          <p:cNvSpPr/>
          <p:nvPr/>
        </p:nvSpPr>
        <p:spPr>
          <a:xfrm>
            <a:off x="640080" y="1673352"/>
            <a:ext cx="54864" cy="603504"/>
          </a:xfrm>
          <a:prstGeom prst="rect">
            <a:avLst/>
          </a:prstGeom>
          <a:solidFill>
            <a:srgbClr val="2E9EBF"/>
          </a:solidFill>
          <a:ln/>
        </p:spPr>
        <p:txBody>
          <a:bodyPr/>
          <a:lstStyle/>
          <a:p>
            <a:endParaRPr lang="es-AR" noProof="0" dirty="0"/>
          </a:p>
        </p:txBody>
      </p:sp>
      <p:sp>
        <p:nvSpPr>
          <p:cNvPr id="13" name="Shape 11"/>
          <p:cNvSpPr/>
          <p:nvPr/>
        </p:nvSpPr>
        <p:spPr>
          <a:xfrm>
            <a:off x="868680" y="1746504"/>
            <a:ext cx="1051560" cy="228600"/>
          </a:xfrm>
          <a:prstGeom prst="rect">
            <a:avLst/>
          </a:prstGeom>
          <a:solidFill>
            <a:srgbClr val="2E9EBF">
              <a:alpha val="15000"/>
            </a:srgbClr>
          </a:solidFill>
          <a:ln/>
        </p:spPr>
        <p:txBody>
          <a:bodyPr/>
          <a:lstStyle/>
          <a:p>
            <a:endParaRPr lang="es-AR" noProof="0" dirty="0"/>
          </a:p>
        </p:txBody>
      </p:sp>
      <p:sp>
        <p:nvSpPr>
          <p:cNvPr id="14" name="Text 12"/>
          <p:cNvSpPr/>
          <p:nvPr/>
        </p:nvSpPr>
        <p:spPr>
          <a:xfrm>
            <a:off x="868680" y="1746504"/>
            <a:ext cx="1051560" cy="228600"/>
          </a:xfrm>
          <a:prstGeom prst="rect">
            <a:avLst/>
          </a:prstGeom>
          <a:noFill/>
          <a:ln/>
        </p:spPr>
        <p:txBody>
          <a:bodyPr wrap="square" lIns="0" tIns="0" rIns="0" bIns="0" rtlCol="0" anchor="ctr"/>
          <a:lstStyle/>
          <a:p>
            <a:pPr marL="0" indent="0" algn="ctr">
              <a:buNone/>
            </a:pPr>
            <a:r>
              <a:rPr lang="es-AR" sz="800" b="1" noProof="0" dirty="0">
                <a:solidFill>
                  <a:srgbClr val="2E9EBF"/>
                </a:solidFill>
                <a:latin typeface="Calibri" pitchFamily="34" charset="0"/>
                <a:ea typeface="Calibri" pitchFamily="34" charset="-122"/>
                <a:cs typeface="Calibri" pitchFamily="34" charset="-120"/>
              </a:rPr>
              <a:t>Estadística</a:t>
            </a:r>
            <a:endParaRPr lang="es-AR" sz="800" noProof="0" dirty="0"/>
          </a:p>
        </p:txBody>
      </p:sp>
      <p:sp>
        <p:nvSpPr>
          <p:cNvPr id="15" name="Text 13"/>
          <p:cNvSpPr/>
          <p:nvPr/>
        </p:nvSpPr>
        <p:spPr>
          <a:xfrm>
            <a:off x="2057400" y="1719072"/>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OpenIntro</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Statistics</a:t>
            </a:r>
            <a:r>
              <a:rPr lang="es-AR" sz="1250" b="1" noProof="0" dirty="0">
                <a:solidFill>
                  <a:srgbClr val="0F2B46"/>
                </a:solidFill>
                <a:latin typeface="Georgia" pitchFamily="34" charset="0"/>
                <a:ea typeface="Georgia" pitchFamily="34" charset="-122"/>
                <a:cs typeface="Georgia" pitchFamily="34" charset="-120"/>
              </a:rPr>
              <a:t> (4e)</a:t>
            </a:r>
            <a:endParaRPr lang="es-AR" sz="1250" noProof="0" dirty="0"/>
          </a:p>
        </p:txBody>
      </p:sp>
      <p:sp>
        <p:nvSpPr>
          <p:cNvPr id="16" name="Text 14"/>
          <p:cNvSpPr/>
          <p:nvPr/>
        </p:nvSpPr>
        <p:spPr>
          <a:xfrm>
            <a:off x="2057400" y="1993392"/>
            <a:ext cx="3657600" cy="228600"/>
          </a:xfrm>
          <a:prstGeom prst="rect">
            <a:avLst/>
          </a:prstGeom>
          <a:noFill/>
          <a:ln/>
        </p:spPr>
        <p:txBody>
          <a:bodyPr wrap="square" lIns="0" tIns="0" rIns="0" bIns="0" rtlCol="0" anchor="ctr"/>
          <a:lstStyle/>
          <a:p>
            <a:pPr marL="0" indent="0" algn="l">
              <a:buNone/>
            </a:pPr>
            <a:r>
              <a:rPr lang="es-AR" sz="1000" noProof="0" dirty="0">
                <a:solidFill>
                  <a:srgbClr val="5A7184"/>
                </a:solidFill>
                <a:latin typeface="Calibri" pitchFamily="34" charset="0"/>
                <a:ea typeface="Calibri" pitchFamily="34" charset="-122"/>
                <a:cs typeface="Calibri" pitchFamily="34" charset="-120"/>
              </a:rPr>
              <a:t>Diez,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Barr</a:t>
            </a:r>
            <a:endParaRPr lang="es-AR" sz="1000" noProof="0" dirty="0"/>
          </a:p>
        </p:txBody>
      </p:sp>
      <p:sp>
        <p:nvSpPr>
          <p:cNvPr id="17" name="Text 15"/>
          <p:cNvSpPr/>
          <p:nvPr/>
        </p:nvSpPr>
        <p:spPr>
          <a:xfrm>
            <a:off x="6400800" y="1810512"/>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openintro.org</a:t>
            </a:r>
            <a:endParaRPr lang="es-AR" sz="950" noProof="0" dirty="0"/>
          </a:p>
        </p:txBody>
      </p:sp>
      <p:sp>
        <p:nvSpPr>
          <p:cNvPr id="18" name="Shape 16"/>
          <p:cNvSpPr/>
          <p:nvPr/>
        </p:nvSpPr>
        <p:spPr>
          <a:xfrm>
            <a:off x="640080" y="2386584"/>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9" name="Shape 17"/>
          <p:cNvSpPr/>
          <p:nvPr/>
        </p:nvSpPr>
        <p:spPr>
          <a:xfrm>
            <a:off x="640080" y="2386584"/>
            <a:ext cx="54864" cy="603504"/>
          </a:xfrm>
          <a:prstGeom prst="rect">
            <a:avLst/>
          </a:prstGeom>
          <a:solidFill>
            <a:srgbClr val="E8963E"/>
          </a:solidFill>
          <a:ln/>
        </p:spPr>
        <p:txBody>
          <a:bodyPr/>
          <a:lstStyle/>
          <a:p>
            <a:endParaRPr lang="es-AR" noProof="0" dirty="0"/>
          </a:p>
        </p:txBody>
      </p:sp>
      <p:sp>
        <p:nvSpPr>
          <p:cNvPr id="20" name="Shape 18"/>
          <p:cNvSpPr/>
          <p:nvPr/>
        </p:nvSpPr>
        <p:spPr>
          <a:xfrm>
            <a:off x="868680" y="2459736"/>
            <a:ext cx="1051560" cy="228600"/>
          </a:xfrm>
          <a:prstGeom prst="rect">
            <a:avLst/>
          </a:prstGeom>
          <a:solidFill>
            <a:srgbClr val="E8963E">
              <a:alpha val="15000"/>
            </a:srgbClr>
          </a:solidFill>
          <a:ln/>
        </p:spPr>
        <p:txBody>
          <a:bodyPr/>
          <a:lstStyle/>
          <a:p>
            <a:endParaRPr lang="es-AR" noProof="0" dirty="0"/>
          </a:p>
        </p:txBody>
      </p:sp>
      <p:sp>
        <p:nvSpPr>
          <p:cNvPr id="21" name="Text 19"/>
          <p:cNvSpPr/>
          <p:nvPr/>
        </p:nvSpPr>
        <p:spPr>
          <a:xfrm>
            <a:off x="868680" y="2459736"/>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2" name="Text 20"/>
          <p:cNvSpPr/>
          <p:nvPr/>
        </p:nvSpPr>
        <p:spPr>
          <a:xfrm>
            <a:off x="2057400" y="2432304"/>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Better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Visualizations</a:t>
            </a:r>
            <a:endParaRPr lang="es-AR" sz="1250" noProof="0" dirty="0"/>
          </a:p>
        </p:txBody>
      </p:sp>
      <p:sp>
        <p:nvSpPr>
          <p:cNvPr id="23" name="Text 21"/>
          <p:cNvSpPr/>
          <p:nvPr/>
        </p:nvSpPr>
        <p:spPr>
          <a:xfrm>
            <a:off x="2057400" y="2706624"/>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Schwabish</a:t>
            </a:r>
            <a:r>
              <a:rPr lang="es-AR" sz="1000" noProof="0" dirty="0">
                <a:solidFill>
                  <a:srgbClr val="5A7184"/>
                </a:solidFill>
                <a:latin typeface="Calibri" pitchFamily="34" charset="0"/>
                <a:ea typeface="Calibri" pitchFamily="34" charset="-122"/>
                <a:cs typeface="Calibri" pitchFamily="34" charset="-120"/>
              </a:rPr>
              <a:t>, J.</a:t>
            </a:r>
            <a:endParaRPr lang="es-AR" sz="1000" noProof="0" dirty="0"/>
          </a:p>
        </p:txBody>
      </p:sp>
      <p:sp>
        <p:nvSpPr>
          <p:cNvPr id="24" name="Text 22"/>
          <p:cNvSpPr/>
          <p:nvPr/>
        </p:nvSpPr>
        <p:spPr>
          <a:xfrm>
            <a:off x="6400800" y="2523744"/>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25" name="Shape 23"/>
          <p:cNvSpPr/>
          <p:nvPr/>
        </p:nvSpPr>
        <p:spPr>
          <a:xfrm>
            <a:off x="640080" y="3099816"/>
            <a:ext cx="7863840" cy="603504"/>
          </a:xfrm>
          <a:prstGeom prst="rect">
            <a:avLst/>
          </a:prstGeom>
          <a:solidFill>
            <a:srgbClr val="E8EEF2"/>
          </a:solidFill>
          <a:ln/>
        </p:spPr>
        <p:txBody>
          <a:bodyPr/>
          <a:lstStyle/>
          <a:p>
            <a:endParaRPr lang="es-AR" noProof="0" dirty="0"/>
          </a:p>
        </p:txBody>
      </p:sp>
      <p:sp>
        <p:nvSpPr>
          <p:cNvPr id="26" name="Shape 24"/>
          <p:cNvSpPr/>
          <p:nvPr/>
        </p:nvSpPr>
        <p:spPr>
          <a:xfrm>
            <a:off x="640080" y="3099816"/>
            <a:ext cx="54864" cy="603504"/>
          </a:xfrm>
          <a:prstGeom prst="rect">
            <a:avLst/>
          </a:prstGeom>
          <a:solidFill>
            <a:srgbClr val="E8963E"/>
          </a:solidFill>
          <a:ln/>
        </p:spPr>
        <p:txBody>
          <a:bodyPr/>
          <a:lstStyle/>
          <a:p>
            <a:endParaRPr lang="es-AR" noProof="0" dirty="0"/>
          </a:p>
        </p:txBody>
      </p:sp>
      <p:sp>
        <p:nvSpPr>
          <p:cNvPr id="27" name="Shape 25"/>
          <p:cNvSpPr/>
          <p:nvPr/>
        </p:nvSpPr>
        <p:spPr>
          <a:xfrm>
            <a:off x="868680" y="3172968"/>
            <a:ext cx="1051560" cy="228600"/>
          </a:xfrm>
          <a:prstGeom prst="rect">
            <a:avLst/>
          </a:prstGeom>
          <a:solidFill>
            <a:srgbClr val="E8963E">
              <a:alpha val="15000"/>
            </a:srgbClr>
          </a:solidFill>
          <a:ln/>
        </p:spPr>
        <p:txBody>
          <a:bodyPr/>
          <a:lstStyle/>
          <a:p>
            <a:endParaRPr lang="es-AR" noProof="0" dirty="0"/>
          </a:p>
        </p:txBody>
      </p:sp>
      <p:sp>
        <p:nvSpPr>
          <p:cNvPr id="28" name="Text 26"/>
          <p:cNvSpPr/>
          <p:nvPr/>
        </p:nvSpPr>
        <p:spPr>
          <a:xfrm>
            <a:off x="868680" y="3172968"/>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9" name="Text 27"/>
          <p:cNvSpPr/>
          <p:nvPr/>
        </p:nvSpPr>
        <p:spPr>
          <a:xfrm>
            <a:off x="2057400" y="3145536"/>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Storytelling</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with</a:t>
            </a:r>
            <a:r>
              <a:rPr lang="es-AR" sz="1250" b="1" noProof="0" dirty="0">
                <a:solidFill>
                  <a:srgbClr val="0F2B46"/>
                </a:solidFill>
                <a:latin typeface="Georgia" pitchFamily="34" charset="0"/>
                <a:ea typeface="Georgia" pitchFamily="34" charset="-122"/>
                <a:cs typeface="Georgia" pitchFamily="34" charset="-120"/>
              </a:rPr>
              <a:t> Data</a:t>
            </a:r>
            <a:endParaRPr lang="es-AR" sz="1250" noProof="0" dirty="0"/>
          </a:p>
        </p:txBody>
      </p:sp>
      <p:sp>
        <p:nvSpPr>
          <p:cNvPr id="30" name="Text 28"/>
          <p:cNvSpPr/>
          <p:nvPr/>
        </p:nvSpPr>
        <p:spPr>
          <a:xfrm>
            <a:off x="2057400" y="3419856"/>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Knaflic</a:t>
            </a:r>
            <a:r>
              <a:rPr lang="es-AR" sz="1000" noProof="0" dirty="0">
                <a:solidFill>
                  <a:srgbClr val="5A7184"/>
                </a:solidFill>
                <a:latin typeface="Calibri" pitchFamily="34" charset="0"/>
                <a:ea typeface="Calibri" pitchFamily="34" charset="-122"/>
                <a:cs typeface="Calibri" pitchFamily="34" charset="-120"/>
              </a:rPr>
              <a:t>, C. N.</a:t>
            </a:r>
            <a:endParaRPr lang="es-AR" sz="1000" noProof="0" dirty="0"/>
          </a:p>
        </p:txBody>
      </p:sp>
      <p:sp>
        <p:nvSpPr>
          <p:cNvPr id="31" name="Text 29"/>
          <p:cNvSpPr/>
          <p:nvPr/>
        </p:nvSpPr>
        <p:spPr>
          <a:xfrm>
            <a:off x="6400800" y="3236976"/>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32" name="Shape 30"/>
          <p:cNvSpPr/>
          <p:nvPr/>
        </p:nvSpPr>
        <p:spPr>
          <a:xfrm>
            <a:off x="640080" y="3813048"/>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33" name="Shape 31"/>
          <p:cNvSpPr/>
          <p:nvPr/>
        </p:nvSpPr>
        <p:spPr>
          <a:xfrm>
            <a:off x="640080" y="3813048"/>
            <a:ext cx="54864" cy="603504"/>
          </a:xfrm>
          <a:prstGeom prst="rect">
            <a:avLst/>
          </a:prstGeom>
          <a:solidFill>
            <a:srgbClr val="E8963E"/>
          </a:solidFill>
          <a:ln/>
        </p:spPr>
        <p:txBody>
          <a:bodyPr/>
          <a:lstStyle/>
          <a:p>
            <a:endParaRPr lang="es-AR" noProof="0" dirty="0"/>
          </a:p>
        </p:txBody>
      </p:sp>
      <p:sp>
        <p:nvSpPr>
          <p:cNvPr id="34" name="Shape 32"/>
          <p:cNvSpPr/>
          <p:nvPr/>
        </p:nvSpPr>
        <p:spPr>
          <a:xfrm>
            <a:off x="868680" y="3886200"/>
            <a:ext cx="1051560" cy="228600"/>
          </a:xfrm>
          <a:prstGeom prst="rect">
            <a:avLst/>
          </a:prstGeom>
          <a:solidFill>
            <a:srgbClr val="E8963E">
              <a:alpha val="15000"/>
            </a:srgbClr>
          </a:solidFill>
          <a:ln/>
        </p:spPr>
        <p:txBody>
          <a:bodyPr/>
          <a:lstStyle/>
          <a:p>
            <a:endParaRPr lang="es-AR" noProof="0" dirty="0"/>
          </a:p>
        </p:txBody>
      </p:sp>
      <p:sp>
        <p:nvSpPr>
          <p:cNvPr id="35" name="Text 33"/>
          <p:cNvSpPr/>
          <p:nvPr/>
        </p:nvSpPr>
        <p:spPr>
          <a:xfrm>
            <a:off x="868680" y="3886200"/>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36" name="Text 34"/>
          <p:cNvSpPr/>
          <p:nvPr/>
        </p:nvSpPr>
        <p:spPr>
          <a:xfrm>
            <a:off x="2057400" y="3858768"/>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ggplot2: </a:t>
            </a:r>
            <a:r>
              <a:rPr lang="es-AR" sz="1250" b="1" noProof="0" dirty="0" err="1">
                <a:solidFill>
                  <a:srgbClr val="0F2B46"/>
                </a:solidFill>
                <a:latin typeface="Georgia" pitchFamily="34" charset="0"/>
                <a:ea typeface="Georgia" pitchFamily="34" charset="-122"/>
                <a:cs typeface="Georgia" pitchFamily="34" charset="-120"/>
              </a:rPr>
              <a:t>Elegant</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Graphics</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Analysis</a:t>
            </a:r>
            <a:r>
              <a:rPr lang="es-AR" sz="1250" b="1" noProof="0" dirty="0">
                <a:solidFill>
                  <a:srgbClr val="0F2B46"/>
                </a:solidFill>
                <a:latin typeface="Georgia" pitchFamily="34" charset="0"/>
                <a:ea typeface="Georgia" pitchFamily="34" charset="-122"/>
                <a:cs typeface="Georgia" pitchFamily="34" charset="-120"/>
              </a:rPr>
              <a:t> (3e)</a:t>
            </a:r>
            <a:endParaRPr lang="es-AR" sz="1250" noProof="0" dirty="0"/>
          </a:p>
        </p:txBody>
      </p:sp>
      <p:sp>
        <p:nvSpPr>
          <p:cNvPr id="37" name="Text 35"/>
          <p:cNvSpPr/>
          <p:nvPr/>
        </p:nvSpPr>
        <p:spPr>
          <a:xfrm>
            <a:off x="2057400" y="4133088"/>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H.</a:t>
            </a:r>
            <a:endParaRPr lang="es-AR" sz="1000" noProof="0" dirty="0"/>
          </a:p>
        </p:txBody>
      </p:sp>
      <p:sp>
        <p:nvSpPr>
          <p:cNvPr id="38" name="Text 36"/>
          <p:cNvSpPr/>
          <p:nvPr/>
        </p:nvSpPr>
        <p:spPr>
          <a:xfrm>
            <a:off x="6400800" y="3950208"/>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ggplot2-book.org</a:t>
            </a:r>
            <a:endParaRPr lang="es-AR" sz="950" noProof="0" dirty="0"/>
          </a:p>
        </p:txBody>
      </p:sp>
      <p:sp>
        <p:nvSpPr>
          <p:cNvPr id="39" name="Shape 37"/>
          <p:cNvSpPr/>
          <p:nvPr/>
        </p:nvSpPr>
        <p:spPr>
          <a:xfrm>
            <a:off x="0" y="4709160"/>
            <a:ext cx="9144000" cy="434340"/>
          </a:xfrm>
          <a:prstGeom prst="rect">
            <a:avLst/>
          </a:prstGeom>
          <a:solidFill>
            <a:srgbClr val="0F2B46"/>
          </a:solidFill>
          <a:ln/>
        </p:spPr>
        <p:txBody>
          <a:bodyPr/>
          <a:lstStyle/>
          <a:p>
            <a:endParaRPr lang="es-AR" noProof="0" dirty="0"/>
          </a:p>
        </p:txBody>
      </p:sp>
      <p:sp>
        <p:nvSpPr>
          <p:cNvPr id="40" name="Text 38"/>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41" name="Text 3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7 / 11</a:t>
            </a:r>
            <a:endParaRPr lang="es-AR" sz="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4" name="Text 2"/>
          <p:cNvSpPr/>
          <p:nvPr/>
        </p:nvSpPr>
        <p:spPr>
          <a:xfrm>
            <a:off x="640080" y="868680"/>
            <a:ext cx="7863840" cy="320040"/>
          </a:xfrm>
          <a:prstGeom prst="rect">
            <a:avLst/>
          </a:prstGeom>
          <a:noFill/>
          <a:ln/>
        </p:spPr>
        <p:txBody>
          <a:bodyPr wrap="square" lIns="0" tIns="0" rIns="0" bIns="0" rtlCol="0" anchor="ctr"/>
          <a:lstStyle/>
          <a:p>
            <a:pPr marL="0" indent="0" algn="l">
              <a:buNone/>
            </a:pPr>
            <a:r>
              <a:rPr lang="es-AR" sz="1300" noProof="0" dirty="0">
                <a:solidFill>
                  <a:srgbClr val="5A7184"/>
                </a:solidFill>
                <a:latin typeface="Calibri" pitchFamily="34" charset="0"/>
                <a:ea typeface="Calibri" pitchFamily="34" charset="-122"/>
                <a:cs typeface="Calibri" pitchFamily="34" charset="-120"/>
              </a:rPr>
              <a:t>3 instancias de seguimiento + Entrega final del Trabajo Práctico</a:t>
            </a:r>
            <a:endParaRPr lang="es-AR" sz="1300" noProof="0" dirty="0"/>
          </a:p>
        </p:txBody>
      </p:sp>
      <p:sp>
        <p:nvSpPr>
          <p:cNvPr id="5" name="Shape 3"/>
          <p:cNvSpPr/>
          <p:nvPr/>
        </p:nvSpPr>
        <p:spPr>
          <a:xfrm>
            <a:off x="1645920" y="2103120"/>
            <a:ext cx="5852160" cy="0"/>
          </a:xfrm>
          <a:prstGeom prst="line">
            <a:avLst/>
          </a:prstGeom>
          <a:noFill/>
          <a:ln w="31750">
            <a:solidFill>
              <a:srgbClr val="E8EEF2"/>
            </a:solidFill>
            <a:prstDash val="dash"/>
          </a:ln>
        </p:spPr>
        <p:txBody>
          <a:bodyPr/>
          <a:lstStyle/>
          <a:p>
            <a:endParaRPr lang="es-AR" noProof="0" dirty="0"/>
          </a:p>
        </p:txBody>
      </p:sp>
      <p:sp>
        <p:nvSpPr>
          <p:cNvPr id="6" name="Shape 4"/>
          <p:cNvSpPr/>
          <p:nvPr/>
        </p:nvSpPr>
        <p:spPr>
          <a:xfrm>
            <a:off x="164592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7" name="Text 5"/>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8" name="Text 6"/>
          <p:cNvSpPr/>
          <p:nvPr/>
        </p:nvSpPr>
        <p:spPr>
          <a:xfrm>
            <a:off x="100584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Base de datos</a:t>
            </a:r>
            <a:endParaRPr lang="es-AR" sz="1200" noProof="0" dirty="0"/>
          </a:p>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e hipótesis</a:t>
            </a:r>
            <a:endParaRPr lang="es-AR" sz="1200" noProof="0" dirty="0"/>
          </a:p>
        </p:txBody>
      </p:sp>
      <p:sp>
        <p:nvSpPr>
          <p:cNvPr id="10" name="Text 8"/>
          <p:cNvSpPr/>
          <p:nvPr/>
        </p:nvSpPr>
        <p:spPr>
          <a:xfrm>
            <a:off x="100584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Validar la elección de base de datos y la formulación de hipótesis a trabajar</a:t>
            </a:r>
            <a:endParaRPr lang="es-AR" sz="1000" noProof="0" dirty="0"/>
          </a:p>
        </p:txBody>
      </p:sp>
      <p:sp>
        <p:nvSpPr>
          <p:cNvPr id="11" name="Shape 9"/>
          <p:cNvSpPr/>
          <p:nvPr/>
        </p:nvSpPr>
        <p:spPr>
          <a:xfrm>
            <a:off x="457200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2" name="Text 10"/>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3" name="Text 11"/>
          <p:cNvSpPr/>
          <p:nvPr/>
        </p:nvSpPr>
        <p:spPr>
          <a:xfrm>
            <a:off x="393192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Métodos</a:t>
            </a:r>
            <a:endParaRPr lang="es-AR" sz="1200" noProof="0" dirty="0"/>
          </a:p>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estadísticos</a:t>
            </a:r>
            <a:endParaRPr lang="es-AR" sz="1200" noProof="0" dirty="0"/>
          </a:p>
        </p:txBody>
      </p:sp>
      <p:sp>
        <p:nvSpPr>
          <p:cNvPr id="15" name="Text 13"/>
          <p:cNvSpPr/>
          <p:nvPr/>
        </p:nvSpPr>
        <p:spPr>
          <a:xfrm>
            <a:off x="393192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Revisión de los métodos estadísticos aplicados y resultados preliminares</a:t>
            </a:r>
            <a:endParaRPr lang="es-AR" sz="1000" noProof="0" dirty="0"/>
          </a:p>
        </p:txBody>
      </p:sp>
      <p:sp>
        <p:nvSpPr>
          <p:cNvPr id="16" name="Shape 14"/>
          <p:cNvSpPr/>
          <p:nvPr/>
        </p:nvSpPr>
        <p:spPr>
          <a:xfrm>
            <a:off x="749808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18" name="Text 16"/>
          <p:cNvSpPr/>
          <p:nvPr/>
        </p:nvSpPr>
        <p:spPr>
          <a:xfrm>
            <a:off x="685800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Visualizaciones</a:t>
            </a:r>
            <a:endParaRPr lang="es-AR" sz="1200" noProof="0" dirty="0"/>
          </a:p>
        </p:txBody>
      </p:sp>
      <p:sp>
        <p:nvSpPr>
          <p:cNvPr id="20" name="Text 18"/>
          <p:cNvSpPr/>
          <p:nvPr/>
        </p:nvSpPr>
        <p:spPr>
          <a:xfrm>
            <a:off x="685800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Validación y corrección de las visualizaciones del trabajo</a:t>
            </a:r>
            <a:endParaRPr lang="es-AR" sz="1000" noProof="0" dirty="0"/>
          </a:p>
        </p:txBody>
      </p:sp>
      <p:sp>
        <p:nvSpPr>
          <p:cNvPr id="21" name="Shape 19"/>
          <p:cNvSpPr/>
          <p:nvPr/>
        </p:nvSpPr>
        <p:spPr>
          <a:xfrm>
            <a:off x="1371600" y="4023360"/>
            <a:ext cx="6400800" cy="50292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sp>
        <p:nvSpPr>
          <p:cNvPr id="22" name="Text 20"/>
          <p:cNvSpPr/>
          <p:nvPr/>
        </p:nvSpPr>
        <p:spPr>
          <a:xfrm>
            <a:off x="1371600" y="4023360"/>
            <a:ext cx="6400800" cy="502920"/>
          </a:xfrm>
          <a:prstGeom prst="rect">
            <a:avLst/>
          </a:prstGeom>
          <a:noFill/>
          <a:ln/>
        </p:spPr>
        <p:txBody>
          <a:bodyPr wrap="square" lIns="0" tIns="0" rIns="0" bIns="0" rtlCol="0" anchor="ctr"/>
          <a:lstStyle/>
          <a:p>
            <a:pPr marL="0" indent="0" algn="ctr">
              <a:buNone/>
            </a:pPr>
            <a:r>
              <a:rPr lang="es-AR" sz="1400" b="1" noProof="0" dirty="0">
                <a:solidFill>
                  <a:srgbClr val="FFFFFF"/>
                </a:solidFill>
                <a:latin typeface="Georgia" pitchFamily="34" charset="0"/>
                <a:ea typeface="Georgia" pitchFamily="34" charset="-122"/>
                <a:cs typeface="Georgia" pitchFamily="34" charset="-120"/>
              </a:rPr>
              <a:t>Entrega Final del Trabajo Práctico</a:t>
            </a:r>
            <a:endParaRPr lang="es-AR" sz="1400" noProof="0" dirty="0"/>
          </a:p>
        </p:txBody>
      </p:sp>
      <p:sp>
        <p:nvSpPr>
          <p:cNvPr id="23" name="Shape 21"/>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EA65-3B83-7DBF-50B1-50619BAE19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EAD2C8-EB76-A6FE-884D-B52EEFDC6B3F}"/>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73A8925F-4B97-F3B6-6902-AC19DE3C429D}"/>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AF5D82B4-6E77-2A79-8609-68BD5CA4A631}"/>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D9D1BC4A-EA4B-3199-92BE-849802A5AF9C}"/>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018AA83A-96B0-1DD0-CA8A-D0638EA9DDE1}"/>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FFE99393-3FF8-1C9F-D0A0-6E6A1AFA6920}"/>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2DF34707-6C29-79C9-41DE-D464DFEF38EC}"/>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a:extLst>
              <a:ext uri="{FF2B5EF4-FFF2-40B4-BE49-F238E27FC236}">
                <a16:creationId xmlns:a16="http://schemas.microsoft.com/office/drawing/2014/main" id="{7352D23D-9041-FB0B-8C42-6888D3F4A091}"/>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EABDB8A-8100-28FA-2175-7E6270D80882}"/>
              </a:ext>
            </a:extLst>
          </p:cNvPr>
          <p:cNvSpPr txBox="1"/>
          <p:nvPr/>
        </p:nvSpPr>
        <p:spPr>
          <a:xfrm>
            <a:off x="298383" y="933651"/>
            <a:ext cx="8388417" cy="2862322"/>
          </a:xfrm>
          <a:prstGeom prst="rect">
            <a:avLst/>
          </a:prstGeom>
          <a:noFill/>
        </p:spPr>
        <p:txBody>
          <a:bodyPr wrap="square" rtlCol="0">
            <a:spAutoFit/>
          </a:bodyPr>
          <a:lstStyle/>
          <a:p>
            <a:r>
              <a:rPr lang="es-ES" b="1" dirty="0"/>
              <a:t>¿En qué consiste el TP? </a:t>
            </a:r>
          </a:p>
          <a:p>
            <a:endParaRPr lang="es-ES" dirty="0"/>
          </a:p>
          <a:p>
            <a:r>
              <a:rPr lang="es-ES" sz="1400" dirty="0"/>
              <a:t>Durante toda la cursada van a trabajar sobre una base de datos que podrán optar de un listado de varias disponibles. Tendrán que formular una hipótesis de trabajo, interiorizarse en el tema, pensar una estrategia estadística para trabajar su hipótesis y visualizar los resultados. </a:t>
            </a:r>
          </a:p>
          <a:p>
            <a:endParaRPr lang="es-ES" sz="1400" dirty="0"/>
          </a:p>
          <a:p>
            <a:r>
              <a:rPr lang="es-ES" sz="1400" dirty="0"/>
              <a:t>El objetivo es que puedan atravesar el camino desde la formulación de la idea hasta el armado de una presentación con los criterios de </a:t>
            </a:r>
            <a:r>
              <a:rPr lang="es-ES" sz="1400" dirty="0" err="1"/>
              <a:t>storytelling</a:t>
            </a:r>
            <a:r>
              <a:rPr lang="es-ES" sz="1400" dirty="0"/>
              <a:t> que veamos. </a:t>
            </a:r>
          </a:p>
          <a:p>
            <a:endParaRPr lang="es-ES" sz="1400" dirty="0"/>
          </a:p>
          <a:p>
            <a:r>
              <a:rPr lang="es-ES" sz="1400" dirty="0"/>
              <a:t>La presentación se acompañará de los códigos y el esquema de archivos/carpetas.</a:t>
            </a:r>
          </a:p>
          <a:p>
            <a:endParaRPr lang="es-ES" sz="1400" dirty="0"/>
          </a:p>
          <a:p>
            <a:r>
              <a:rPr lang="es-ES" sz="1400" dirty="0"/>
              <a:t>Los grupos serán de dos o tres personas, sin excepciones.  </a:t>
            </a:r>
            <a:r>
              <a:rPr lang="es-ES" dirty="0"/>
              <a:t>  </a:t>
            </a:r>
          </a:p>
        </p:txBody>
      </p:sp>
    </p:spTree>
    <p:extLst>
      <p:ext uri="{BB962C8B-B14F-4D97-AF65-F5344CB8AC3E}">
        <p14:creationId xmlns:p14="http://schemas.microsoft.com/office/powerpoint/2010/main" val="1944267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0BC8B-FB84-8B38-490A-E316231C2A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701F8D-E17B-63E1-2ED7-1A3E40EEA9BD}"/>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2D63FEB-9F7E-3AB0-EB71-D233D662771A}"/>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52A21065-0D91-92A1-93F1-A8DCDE76259C}"/>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F8E2859C-DB34-740B-1D5D-EE7E213CFD58}"/>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4108EA2B-989D-93CE-34FE-A6B24F017B78}"/>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7E6FDB11-B1DE-559A-B0C0-81C80D247AA6}"/>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1608083B-8A6B-06E5-5C92-D7085FDD182D}"/>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a:extLst>
              <a:ext uri="{FF2B5EF4-FFF2-40B4-BE49-F238E27FC236}">
                <a16:creationId xmlns:a16="http://schemas.microsoft.com/office/drawing/2014/main" id="{6F3E7AC5-2AEC-787F-D2C3-F5A60C2B142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D873BD7-C2D2-71DB-A3C7-BD4311CE8B63}"/>
              </a:ext>
            </a:extLst>
          </p:cNvPr>
          <p:cNvSpPr txBox="1"/>
          <p:nvPr/>
        </p:nvSpPr>
        <p:spPr>
          <a:xfrm>
            <a:off x="298383" y="933651"/>
            <a:ext cx="8388417" cy="3724096"/>
          </a:xfrm>
          <a:prstGeom prst="rect">
            <a:avLst/>
          </a:prstGeom>
          <a:noFill/>
        </p:spPr>
        <p:txBody>
          <a:bodyPr wrap="square" rtlCol="0">
            <a:spAutoFit/>
          </a:bodyPr>
          <a:lstStyle/>
          <a:p>
            <a:r>
              <a:rPr lang="es-ES" b="1" dirty="0"/>
              <a:t>Forma de calificación </a:t>
            </a:r>
          </a:p>
          <a:p>
            <a:endParaRPr lang="es-ES" dirty="0"/>
          </a:p>
          <a:p>
            <a:r>
              <a:rPr lang="es-ES" sz="1400" dirty="0"/>
              <a:t>La nota final de la materia consistirá en </a:t>
            </a:r>
          </a:p>
          <a:p>
            <a:pPr marL="285750" indent="-285750">
              <a:buFontTx/>
              <a:buChar char="-"/>
            </a:pPr>
            <a:r>
              <a:rPr lang="es-ES" sz="1400" dirty="0"/>
              <a:t>40% de las entregas intermedias (10%, 20% y 10%)</a:t>
            </a:r>
          </a:p>
          <a:p>
            <a:pPr marL="285750" indent="-285750">
              <a:buFontTx/>
              <a:buChar char="-"/>
            </a:pPr>
            <a:r>
              <a:rPr lang="es-ES" sz="1400" dirty="0"/>
              <a:t>60% la entrega final. </a:t>
            </a:r>
          </a:p>
          <a:p>
            <a:endParaRPr lang="es-ES" sz="1400" dirty="0"/>
          </a:p>
          <a:p>
            <a:r>
              <a:rPr lang="es-ES" sz="1400" dirty="0"/>
              <a:t>El 10% de la entrega final dependerá de la incorporación de los comentarios que el docente realiza sobre las intermedias.</a:t>
            </a:r>
          </a:p>
          <a:p>
            <a:endParaRPr lang="es-ES" sz="1400" dirty="0"/>
          </a:p>
          <a:p>
            <a:r>
              <a:rPr lang="es-ES" sz="1400" dirty="0"/>
              <a:t>Todas las entregas son obligatorias y deben estar aprobadas. </a:t>
            </a:r>
          </a:p>
          <a:p>
            <a:r>
              <a:rPr lang="es-ES" sz="1400" dirty="0"/>
              <a:t>En caso de que los estudiantes realicen un envío no aprobado, tendrán la posibilidad de recuperarlo (solo una de las tres instancias intermedias). </a:t>
            </a:r>
          </a:p>
          <a:p>
            <a:endParaRPr lang="es-ES" sz="1400" dirty="0"/>
          </a:p>
          <a:p>
            <a:r>
              <a:rPr lang="es-ES" sz="1400" dirty="0"/>
              <a:t>En caso de que el trabajo final no esté aprobado por poco, el docente pedirá la presentación oral del trabajo. </a:t>
            </a:r>
          </a:p>
          <a:p>
            <a:r>
              <a:rPr lang="es-ES" sz="1400" dirty="0"/>
              <a:t>En caso de que el docente sospeche de un uso excesivo de la IA, se pedirá también la presentación oral del trabajo y la explicación de los códigos.  </a:t>
            </a:r>
            <a:r>
              <a:rPr lang="es-ES" dirty="0"/>
              <a:t>  </a:t>
            </a:r>
          </a:p>
        </p:txBody>
      </p:sp>
    </p:spTree>
    <p:extLst>
      <p:ext uri="{BB962C8B-B14F-4D97-AF65-F5344CB8AC3E}">
        <p14:creationId xmlns:p14="http://schemas.microsoft.com/office/powerpoint/2010/main" val="50466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Dinámica de Clases y Situaciones Extraordinarias</a:t>
            </a:r>
            <a:endParaRPr lang="es-AR" sz="2600" noProof="0" dirty="0"/>
          </a:p>
        </p:txBody>
      </p:sp>
      <p:sp>
        <p:nvSpPr>
          <p:cNvPr id="4" name="Shape 2"/>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Estructura semanal</a:t>
            </a:r>
            <a:endParaRPr lang="es-AR" sz="1600" noProof="0" dirty="0"/>
          </a:p>
        </p:txBody>
      </p:sp>
      <p:sp>
        <p:nvSpPr>
          <p:cNvPr id="7" name="Shape 5"/>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Martes — Clase Presencial</a:t>
            </a:r>
            <a:endParaRPr lang="es-AR" sz="1200" noProof="0" dirty="0"/>
          </a:p>
        </p:txBody>
      </p:sp>
      <p:sp>
        <p:nvSpPr>
          <p:cNvPr id="9" name="Text 7"/>
          <p:cNvSpPr/>
          <p:nvPr/>
        </p:nvSpPr>
        <p:spPr>
          <a:xfrm>
            <a:off x="1051560" y="1999035"/>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Contenido teórico y conceptual. Presentación de temas nuevos con ejemplos y discusión.</a:t>
            </a:r>
          </a:p>
          <a:p>
            <a:pPr marL="0" indent="0" algn="l">
              <a:lnSpc>
                <a:spcPct val="130000"/>
              </a:lnSpc>
              <a:buNone/>
            </a:pPr>
            <a:r>
              <a:rPr lang="es-AR" sz="1050" dirty="0">
                <a:solidFill>
                  <a:srgbClr val="5A7184"/>
                </a:solidFill>
                <a:latin typeface="Calibri" pitchFamily="34" charset="0"/>
                <a:cs typeface="Calibri" pitchFamily="34" charset="-120"/>
              </a:rPr>
              <a:t>Alguna clase quizás pido que lleven computadora.</a:t>
            </a:r>
            <a:endParaRPr lang="es-AR" sz="1050" noProof="0" dirty="0"/>
          </a:p>
        </p:txBody>
      </p:sp>
      <p:sp>
        <p:nvSpPr>
          <p:cNvPr id="10" name="Shape 8"/>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Viernes — Clase Virtual</a:t>
            </a:r>
            <a:endParaRPr lang="es-AR" sz="1200" noProof="0" dirty="0"/>
          </a:p>
        </p:txBody>
      </p:sp>
      <p:sp>
        <p:nvSpPr>
          <p:cNvPr id="12" name="Text 10"/>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Práctica en R: aplicación directa del tema visto el martes. Programación y ejercicios.</a:t>
            </a:r>
            <a:endParaRPr lang="es-AR" sz="1050" noProof="0" dirty="0"/>
          </a:p>
        </p:txBody>
      </p:sp>
      <p:sp>
        <p:nvSpPr>
          <p:cNvPr id="13" name="Shape 11"/>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p:cNvPicPr>
            <a:picLocks noChangeAspect="1"/>
          </p:cNvPicPr>
          <p:nvPr/>
        </p:nvPicPr>
        <p:blipFill>
          <a:blip r:embed="rId3"/>
          <a:stretch>
            <a:fillRect/>
          </a:stretch>
        </p:blipFill>
        <p:spPr>
          <a:xfrm>
            <a:off x="5029200" y="1280160"/>
            <a:ext cx="320040" cy="320040"/>
          </a:xfrm>
          <a:prstGeom prst="rect">
            <a:avLst/>
          </a:prstGeom>
        </p:spPr>
      </p:pic>
      <p:sp>
        <p:nvSpPr>
          <p:cNvPr id="16" name="Text 13"/>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Ante paros y situaciones</a:t>
            </a:r>
            <a:endParaRPr lang="es-AR" sz="1400" noProof="0" dirty="0"/>
          </a:p>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extraordinarias</a:t>
            </a:r>
            <a:endParaRPr lang="es-AR" sz="1400" noProof="0" dirty="0"/>
          </a:p>
        </p:txBody>
      </p:sp>
      <p:sp>
        <p:nvSpPr>
          <p:cNvPr id="17" name="Text 14"/>
          <p:cNvSpPr/>
          <p:nvPr/>
        </p:nvSpPr>
        <p:spPr>
          <a:xfrm>
            <a:off x="5029200" y="1874520"/>
            <a:ext cx="32461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En caso de paro docente o situaciones que impidan el dictado presencial, la clase no se realizará (ni presencial ni virtual).</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Si se suspende la actividad universitaria, los materiales se compartirán de forma asincrónica. En muy pocos casos se reprogramará. Se intentará dar el material teórico junto al práctico en cuestión.</a:t>
            </a:r>
            <a:endParaRPr lang="es-AR" sz="1050" noProof="0" dirty="0"/>
          </a:p>
          <a:p>
            <a:pPr marL="342900" indent="-342900">
              <a:spcAft>
                <a:spcPts val="600"/>
              </a:spcAft>
              <a:buSzPct val="100000"/>
              <a:buChar char="•"/>
            </a:pPr>
            <a:r>
              <a:rPr lang="es-AR" sz="1050" dirty="0">
                <a:solidFill>
                  <a:srgbClr val="5A7184"/>
                </a:solidFill>
                <a:latin typeface="Calibri" pitchFamily="34" charset="0"/>
                <a:ea typeface="Calibri" pitchFamily="34" charset="-122"/>
                <a:cs typeface="Calibri" pitchFamily="34" charset="-120"/>
              </a:rPr>
              <a:t>Solamente una excepción gigante va a ajustar los plazos de entrega</a:t>
            </a:r>
            <a:r>
              <a:rPr lang="es-AR" sz="1050" noProof="0" dirty="0">
                <a:solidFill>
                  <a:srgbClr val="5A7184"/>
                </a:solidFill>
                <a:latin typeface="Calibri" pitchFamily="34" charset="0"/>
                <a:ea typeface="Calibri" pitchFamily="34" charset="-122"/>
                <a:cs typeface="Calibri" pitchFamily="34" charset="-120"/>
              </a:rPr>
              <a:t> de evaluaciones, ya que se intentará que el contenido no se </a:t>
            </a:r>
            <a:r>
              <a:rPr lang="es-AR" sz="1050" noProof="0">
                <a:solidFill>
                  <a:srgbClr val="5A7184"/>
                </a:solidFill>
                <a:latin typeface="Calibri" pitchFamily="34" charset="0"/>
                <a:ea typeface="Calibri" pitchFamily="34" charset="-122"/>
                <a:cs typeface="Calibri" pitchFamily="34" charset="-120"/>
              </a:rPr>
              <a:t>vea afectado.</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La comunicación oficial será siempre a través del campus virtual.</a:t>
            </a:r>
            <a:endParaRPr lang="es-AR" sz="1050" noProof="0" dirty="0"/>
          </a:p>
        </p:txBody>
      </p:sp>
      <p:sp>
        <p:nvSpPr>
          <p:cNvPr id="18"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161F-6084-A527-AB65-C8368F35CB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CD1015-8E16-E371-6CBC-367A94ADA2C0}"/>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EA2C7FF-54ED-0F74-C98A-13B5EA54E39B}"/>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Políticas de uso de los Chats</a:t>
            </a:r>
            <a:endParaRPr lang="es-AR" sz="2600" noProof="0" dirty="0"/>
          </a:p>
        </p:txBody>
      </p:sp>
      <p:sp>
        <p:nvSpPr>
          <p:cNvPr id="4" name="Shape 2">
            <a:extLst>
              <a:ext uri="{FF2B5EF4-FFF2-40B4-BE49-F238E27FC236}">
                <a16:creationId xmlns:a16="http://schemas.microsoft.com/office/drawing/2014/main" id="{88190EC9-AFEB-73CA-9FAF-0ECA219EF568}"/>
              </a:ext>
            </a:extLst>
          </p:cNvPr>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6021AF26-10DF-A58F-42FB-2FE5BA0543C8}"/>
              </a:ext>
            </a:extLst>
          </p:cNvPr>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E87AD934-900C-ECC4-8962-4D637D20653E}"/>
              </a:ext>
            </a:extLst>
          </p:cNvPr>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Recomendación de plataforma</a:t>
            </a:r>
            <a:endParaRPr lang="es-AR" sz="1600" noProof="0" dirty="0"/>
          </a:p>
        </p:txBody>
      </p:sp>
      <p:sp>
        <p:nvSpPr>
          <p:cNvPr id="7" name="Shape 5">
            <a:extLst>
              <a:ext uri="{FF2B5EF4-FFF2-40B4-BE49-F238E27FC236}">
                <a16:creationId xmlns:a16="http://schemas.microsoft.com/office/drawing/2014/main" id="{604DF06C-0DA5-EADB-FD8A-75A6A109E8F9}"/>
              </a:ext>
            </a:extLst>
          </p:cNvPr>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a:extLst>
              <a:ext uri="{FF2B5EF4-FFF2-40B4-BE49-F238E27FC236}">
                <a16:creationId xmlns:a16="http://schemas.microsoft.com/office/drawing/2014/main" id="{A5B6EF43-4405-ECB9-012F-E809CF707F7D}"/>
              </a:ext>
            </a:extLst>
          </p:cNvPr>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Mejores chats</a:t>
            </a:r>
            <a:endParaRPr lang="es-AR" sz="1200" noProof="0" dirty="0"/>
          </a:p>
        </p:txBody>
      </p:sp>
      <p:sp>
        <p:nvSpPr>
          <p:cNvPr id="9" name="Text 7">
            <a:extLst>
              <a:ext uri="{FF2B5EF4-FFF2-40B4-BE49-F238E27FC236}">
                <a16:creationId xmlns:a16="http://schemas.microsoft.com/office/drawing/2014/main" id="{80FAA9AC-971F-E03A-F81D-80BB563F085A}"/>
              </a:ext>
            </a:extLst>
          </p:cNvPr>
          <p:cNvSpPr/>
          <p:nvPr/>
        </p:nvSpPr>
        <p:spPr>
          <a:xfrm>
            <a:off x="1051560" y="1965958"/>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Opus 4.6 =&gt; es por lejos el </a:t>
            </a:r>
            <a:r>
              <a:rPr lang="es-AR" sz="1050" noProof="0" dirty="0" err="1">
                <a:solidFill>
                  <a:srgbClr val="5A7184"/>
                </a:solidFill>
                <a:latin typeface="Calibri" pitchFamily="34" charset="0"/>
                <a:ea typeface="Calibri" pitchFamily="34" charset="-122"/>
                <a:cs typeface="Calibri" pitchFamily="34" charset="-120"/>
              </a:rPr>
              <a:t>major</a:t>
            </a:r>
            <a:r>
              <a:rPr lang="es-AR" sz="1050" noProof="0" dirty="0">
                <a:solidFill>
                  <a:srgbClr val="5A7184"/>
                </a:solidFill>
                <a:latin typeface="Calibri" pitchFamily="34" charset="0"/>
                <a:ea typeface="Calibri" pitchFamily="34" charset="-122"/>
                <a:cs typeface="Calibri" pitchFamily="34" charset="-120"/>
              </a:rPr>
              <a:t> </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a:t>
            </a:r>
            <a:r>
              <a:rPr lang="es-AR" sz="1050" noProof="0" dirty="0" err="1">
                <a:solidFill>
                  <a:srgbClr val="5A7184"/>
                </a:solidFill>
                <a:latin typeface="Calibri" pitchFamily="34" charset="0"/>
                <a:ea typeface="Calibri" pitchFamily="34" charset="-122"/>
                <a:cs typeface="Calibri" pitchFamily="34" charset="-120"/>
              </a:rPr>
              <a:t>Sonnet</a:t>
            </a:r>
            <a:r>
              <a:rPr lang="es-AR" sz="1050" noProof="0" dirty="0">
                <a:solidFill>
                  <a:srgbClr val="5A7184"/>
                </a:solidFill>
                <a:latin typeface="Calibri" pitchFamily="34" charset="0"/>
                <a:ea typeface="Calibri" pitchFamily="34" charset="-122"/>
                <a:cs typeface="Calibri" pitchFamily="34" charset="-120"/>
              </a:rPr>
              <a:t> va bien, pero requiere control</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Los de </a:t>
            </a:r>
            <a:r>
              <a:rPr lang="es-AR" sz="1050" noProof="0" dirty="0" err="1">
                <a:solidFill>
                  <a:srgbClr val="5A7184"/>
                </a:solidFill>
                <a:latin typeface="Calibri" pitchFamily="34" charset="0"/>
                <a:ea typeface="Calibri" pitchFamily="34" charset="-122"/>
                <a:cs typeface="Calibri" pitchFamily="34" charset="-120"/>
              </a:rPr>
              <a:t>OpenAI</a:t>
            </a:r>
            <a:r>
              <a:rPr lang="es-AR" sz="1050" noProof="0" dirty="0">
                <a:solidFill>
                  <a:srgbClr val="5A7184"/>
                </a:solidFill>
                <a:latin typeface="Calibri" pitchFamily="34" charset="0"/>
                <a:ea typeface="Calibri" pitchFamily="34" charset="-122"/>
                <a:cs typeface="Calibri" pitchFamily="34" charset="-120"/>
              </a:rPr>
              <a:t>/</a:t>
            </a:r>
            <a:r>
              <a:rPr lang="es-AR" sz="1050" noProof="0" dirty="0" err="1">
                <a:solidFill>
                  <a:srgbClr val="5A7184"/>
                </a:solidFill>
                <a:latin typeface="Calibri" pitchFamily="34" charset="0"/>
                <a:ea typeface="Calibri" pitchFamily="34" charset="-122"/>
                <a:cs typeface="Calibri" pitchFamily="34" charset="-120"/>
              </a:rPr>
              <a:t>DeepSeek</a:t>
            </a:r>
            <a:r>
              <a:rPr lang="es-AR" sz="1050" noProof="0" dirty="0">
                <a:solidFill>
                  <a:srgbClr val="5A7184"/>
                </a:solidFill>
                <a:latin typeface="Calibri" pitchFamily="34" charset="0"/>
                <a:ea typeface="Calibri" pitchFamily="34" charset="-122"/>
                <a:cs typeface="Calibri" pitchFamily="34" charset="-120"/>
              </a:rPr>
              <a:t> tienen fallas, menos foco </a:t>
            </a:r>
            <a:endParaRPr lang="es-AR" sz="1050" noProof="0" dirty="0"/>
          </a:p>
        </p:txBody>
      </p:sp>
      <p:sp>
        <p:nvSpPr>
          <p:cNvPr id="10" name="Shape 8">
            <a:extLst>
              <a:ext uri="{FF2B5EF4-FFF2-40B4-BE49-F238E27FC236}">
                <a16:creationId xmlns:a16="http://schemas.microsoft.com/office/drawing/2014/main" id="{B9C2339F-7576-4D0E-C8E9-EC3B9A375AE2}"/>
              </a:ext>
            </a:extLst>
          </p:cNvPr>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a:extLst>
              <a:ext uri="{FF2B5EF4-FFF2-40B4-BE49-F238E27FC236}">
                <a16:creationId xmlns:a16="http://schemas.microsoft.com/office/drawing/2014/main" id="{C0A6173A-08B6-A71D-BF02-51FE361CE726}"/>
              </a:ext>
            </a:extLst>
          </p:cNvPr>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Para el curso</a:t>
            </a:r>
            <a:endParaRPr lang="es-AR" sz="1200" noProof="0" dirty="0"/>
          </a:p>
        </p:txBody>
      </p:sp>
      <p:sp>
        <p:nvSpPr>
          <p:cNvPr id="12" name="Text 10">
            <a:extLst>
              <a:ext uri="{FF2B5EF4-FFF2-40B4-BE49-F238E27FC236}">
                <a16:creationId xmlns:a16="http://schemas.microsoft.com/office/drawing/2014/main" id="{41C37238-44FC-329A-DB4D-FB60DEC096D1}"/>
              </a:ext>
            </a:extLst>
          </p:cNvPr>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No hace falta pagarlo, pero si van a usarlo en otros lados quizás conviene, en especial Claude</a:t>
            </a:r>
            <a:endParaRPr lang="es-AR" sz="1050" noProof="0" dirty="0"/>
          </a:p>
        </p:txBody>
      </p:sp>
      <p:sp>
        <p:nvSpPr>
          <p:cNvPr id="13" name="Shape 11">
            <a:extLst>
              <a:ext uri="{FF2B5EF4-FFF2-40B4-BE49-F238E27FC236}">
                <a16:creationId xmlns:a16="http://schemas.microsoft.com/office/drawing/2014/main" id="{265353C9-1811-57F1-34C8-64438E6E2984}"/>
              </a:ext>
            </a:extLst>
          </p:cNvPr>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a:extLst>
              <a:ext uri="{FF2B5EF4-FFF2-40B4-BE49-F238E27FC236}">
                <a16:creationId xmlns:a16="http://schemas.microsoft.com/office/drawing/2014/main" id="{00FF72AA-3164-A70A-1F74-AA4A87686A2D}"/>
              </a:ext>
            </a:extLst>
          </p:cNvPr>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a:extLst>
              <a:ext uri="{FF2B5EF4-FFF2-40B4-BE49-F238E27FC236}">
                <a16:creationId xmlns:a16="http://schemas.microsoft.com/office/drawing/2014/main" id="{C3ADCA01-2FE0-8A61-C070-474FC2A10A6B}"/>
              </a:ext>
            </a:extLst>
          </p:cNvPr>
          <p:cNvPicPr>
            <a:picLocks noChangeAspect="1"/>
          </p:cNvPicPr>
          <p:nvPr/>
        </p:nvPicPr>
        <p:blipFill>
          <a:blip r:embed="rId3"/>
          <a:stretch>
            <a:fillRect/>
          </a:stretch>
        </p:blipFill>
        <p:spPr>
          <a:xfrm>
            <a:off x="5029200" y="1280160"/>
            <a:ext cx="320040" cy="320040"/>
          </a:xfrm>
          <a:prstGeom prst="rect">
            <a:avLst/>
          </a:prstGeom>
        </p:spPr>
      </p:pic>
      <p:sp>
        <p:nvSpPr>
          <p:cNvPr id="16" name="Text 13">
            <a:extLst>
              <a:ext uri="{FF2B5EF4-FFF2-40B4-BE49-F238E27FC236}">
                <a16:creationId xmlns:a16="http://schemas.microsoft.com/office/drawing/2014/main" id="{C822E887-1241-FB26-F323-A992D69FDBE5}"/>
              </a:ext>
            </a:extLst>
          </p:cNvPr>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rPr>
              <a:t>Cómo usarlo</a:t>
            </a:r>
            <a:endParaRPr lang="es-AR" sz="1400" noProof="0" dirty="0"/>
          </a:p>
        </p:txBody>
      </p:sp>
      <p:sp>
        <p:nvSpPr>
          <p:cNvPr id="17" name="Text 14">
            <a:extLst>
              <a:ext uri="{FF2B5EF4-FFF2-40B4-BE49-F238E27FC236}">
                <a16:creationId xmlns:a16="http://schemas.microsoft.com/office/drawing/2014/main" id="{C4BFB953-E84E-5005-F8FD-4CBDF801AE00}"/>
              </a:ext>
            </a:extLst>
          </p:cNvPr>
          <p:cNvSpPr/>
          <p:nvPr/>
        </p:nvSpPr>
        <p:spPr>
          <a:xfrm>
            <a:off x="4800600" y="1874520"/>
            <a:ext cx="37033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hay problema con que lo usen, pero con criterio</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El objetivo de la materia es que ustedes aprendan, los mejores modelos hacen todo (o casi)</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Formas de usarlo:</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Pelotear ideas para el TP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Ayuda cuando los códigos no salen o tienen problemas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Mejorar los códigos y revisarlos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Repensar visualizaciones</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usarlo para que haga todas las cosas: desarrollar un poco de idea de código y pensamiento crítico</a:t>
            </a:r>
          </a:p>
          <a:p>
            <a:pPr marL="342900" indent="-342900">
              <a:spcAft>
                <a:spcPts val="600"/>
              </a:spcAft>
              <a:buSzPct val="100000"/>
              <a:buChar char="•"/>
            </a:pPr>
            <a:endParaRPr lang="es-AR" sz="1050" noProof="0" dirty="0"/>
          </a:p>
        </p:txBody>
      </p:sp>
      <p:sp>
        <p:nvSpPr>
          <p:cNvPr id="18" name="Shape 15">
            <a:extLst>
              <a:ext uri="{FF2B5EF4-FFF2-40B4-BE49-F238E27FC236}">
                <a16:creationId xmlns:a16="http://schemas.microsoft.com/office/drawing/2014/main" id="{CA948451-0250-4255-BCE8-D44564EEC4B7}"/>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a:extLst>
              <a:ext uri="{FF2B5EF4-FFF2-40B4-BE49-F238E27FC236}">
                <a16:creationId xmlns:a16="http://schemas.microsoft.com/office/drawing/2014/main" id="{393A0F59-9154-2CBA-D6B4-D5A5B4B24A26}"/>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a:extLst>
              <a:ext uri="{FF2B5EF4-FFF2-40B4-BE49-F238E27FC236}">
                <a16:creationId xmlns:a16="http://schemas.microsoft.com/office/drawing/2014/main" id="{08356697-F057-3948-A6EC-9E4F7B54D113}"/>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extLst>
      <p:ext uri="{BB962C8B-B14F-4D97-AF65-F5344CB8AC3E}">
        <p14:creationId xmlns:p14="http://schemas.microsoft.com/office/powerpoint/2010/main" val="230379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3F1B-11A4-6296-8B4B-5408ADA952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68352B-0169-AE46-543E-0ABC0E59C520}"/>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F6344B7E-508F-5CCF-3D77-5872DFD0DFF2}"/>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Cosas generales</a:t>
            </a:r>
            <a:endParaRPr lang="es-AR" sz="2600" noProof="0" dirty="0"/>
          </a:p>
        </p:txBody>
      </p:sp>
      <p:sp>
        <p:nvSpPr>
          <p:cNvPr id="13" name="Shape 11">
            <a:extLst>
              <a:ext uri="{FF2B5EF4-FFF2-40B4-BE49-F238E27FC236}">
                <a16:creationId xmlns:a16="http://schemas.microsoft.com/office/drawing/2014/main" id="{AFECB0FE-5DE3-17E4-5806-A2C78EC02345}"/>
              </a:ext>
            </a:extLst>
          </p:cNvPr>
          <p:cNvSpPr/>
          <p:nvPr/>
        </p:nvSpPr>
        <p:spPr>
          <a:xfrm>
            <a:off x="518809" y="1051560"/>
            <a:ext cx="7985111"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a:extLst>
              <a:ext uri="{FF2B5EF4-FFF2-40B4-BE49-F238E27FC236}">
                <a16:creationId xmlns:a16="http://schemas.microsoft.com/office/drawing/2014/main" id="{4DDB4AAB-F27E-D101-BD9E-CC17DBA9537B}"/>
              </a:ext>
            </a:extLst>
          </p:cNvPr>
          <p:cNvSpPr/>
          <p:nvPr/>
        </p:nvSpPr>
        <p:spPr>
          <a:xfrm>
            <a:off x="518809" y="1051560"/>
            <a:ext cx="7985111" cy="91440"/>
          </a:xfrm>
          <a:prstGeom prst="rect">
            <a:avLst/>
          </a:prstGeom>
          <a:solidFill>
            <a:srgbClr val="E8963E"/>
          </a:solidFill>
          <a:ln/>
        </p:spPr>
        <p:txBody>
          <a:bodyPr/>
          <a:lstStyle/>
          <a:p>
            <a:endParaRPr lang="es-AR" noProof="0" dirty="0"/>
          </a:p>
        </p:txBody>
      </p:sp>
      <p:sp>
        <p:nvSpPr>
          <p:cNvPr id="17" name="Text 14">
            <a:extLst>
              <a:ext uri="{FF2B5EF4-FFF2-40B4-BE49-F238E27FC236}">
                <a16:creationId xmlns:a16="http://schemas.microsoft.com/office/drawing/2014/main" id="{48D4550A-ABF2-75D5-5D06-4F53E99A9964}"/>
              </a:ext>
            </a:extLst>
          </p:cNvPr>
          <p:cNvSpPr/>
          <p:nvPr/>
        </p:nvSpPr>
        <p:spPr>
          <a:xfrm>
            <a:off x="856034" y="1322962"/>
            <a:ext cx="7647886" cy="2928998"/>
          </a:xfrm>
          <a:prstGeom prst="rect">
            <a:avLst/>
          </a:prstGeom>
          <a:noFill/>
          <a:ln/>
        </p:spPr>
        <p:txBody>
          <a:bodyPr wrap="square" rtlCol="0" anchor="t"/>
          <a:lstStyle/>
          <a:p>
            <a:pPr marL="342900" indent="-342900">
              <a:spcAft>
                <a:spcPts val="600"/>
              </a:spcAft>
              <a:buSzPct val="100000"/>
              <a:buChar char="•"/>
            </a:pPr>
            <a:r>
              <a:rPr lang="es-AR" sz="1100" noProof="0" dirty="0">
                <a:solidFill>
                  <a:srgbClr val="5A7184"/>
                </a:solidFill>
                <a:latin typeface="Calibri" pitchFamily="34" charset="0"/>
                <a:ea typeface="Calibri" pitchFamily="34" charset="-122"/>
                <a:cs typeface="Calibri" pitchFamily="34" charset="-120"/>
              </a:rPr>
              <a:t>No </a:t>
            </a:r>
            <a:r>
              <a:rPr lang="es-AR" sz="1100" dirty="0">
                <a:solidFill>
                  <a:srgbClr val="5A7184"/>
                </a:solidFill>
                <a:latin typeface="Calibri" pitchFamily="34" charset="0"/>
                <a:ea typeface="Calibri" pitchFamily="34" charset="-122"/>
                <a:cs typeface="Calibri" pitchFamily="34" charset="-120"/>
              </a:rPr>
              <a:t>se toma asistencia, pero intenten venir</a:t>
            </a:r>
          </a:p>
          <a:p>
            <a:pPr marL="342900" indent="-342900">
              <a:spcAft>
                <a:spcPts val="600"/>
              </a:spcAft>
              <a:buSzPct val="100000"/>
              <a:buChar char="•"/>
            </a:pPr>
            <a:r>
              <a:rPr lang="es-AR" sz="1100" noProof="0" dirty="0">
                <a:solidFill>
                  <a:srgbClr val="5A7184"/>
                </a:solidFill>
                <a:latin typeface="Calibri" pitchFamily="34" charset="0"/>
                <a:cs typeface="Calibri" pitchFamily="34" charset="-120"/>
              </a:rPr>
              <a:t>Las últimas clases (Web </a:t>
            </a:r>
            <a:r>
              <a:rPr lang="es-AR" sz="1100" noProof="0" dirty="0" err="1">
                <a:solidFill>
                  <a:srgbClr val="5A7184"/>
                </a:solidFill>
                <a:latin typeface="Calibri" pitchFamily="34" charset="0"/>
                <a:cs typeface="Calibri" pitchFamily="34" charset="-120"/>
              </a:rPr>
              <a:t>Scraping</a:t>
            </a:r>
            <a:r>
              <a:rPr lang="es-AR" sz="1100" dirty="0">
                <a:solidFill>
                  <a:srgbClr val="5A7184"/>
                </a:solidFill>
                <a:latin typeface="Calibri" pitchFamily="34" charset="0"/>
                <a:cs typeface="Calibri" pitchFamily="34" charset="-120"/>
              </a:rPr>
              <a:t>) son opcionales para quienes tengan interés de aprender el tema</a:t>
            </a:r>
          </a:p>
          <a:p>
            <a:pPr marL="342900" indent="-342900">
              <a:spcAft>
                <a:spcPts val="600"/>
              </a:spcAft>
              <a:buSzPct val="100000"/>
              <a:buChar char="•"/>
            </a:pPr>
            <a:r>
              <a:rPr lang="es-AR" sz="1100" noProof="0" dirty="0">
                <a:solidFill>
                  <a:srgbClr val="5A7184"/>
                </a:solidFill>
                <a:latin typeface="Calibri" pitchFamily="34" charset="0"/>
                <a:cs typeface="Calibri" pitchFamily="34" charset="-120"/>
              </a:rPr>
              <a:t>Bibliografía es re</a:t>
            </a:r>
            <a:r>
              <a:rPr lang="es-AR" sz="1100" dirty="0">
                <a:solidFill>
                  <a:srgbClr val="5A7184"/>
                </a:solidFill>
                <a:latin typeface="Calibri" pitchFamily="34" charset="0"/>
                <a:cs typeface="Calibri" pitchFamily="34" charset="-120"/>
              </a:rPr>
              <a:t>comendada, pero no obligatoria. Es un material de apoyo</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materiales de la semana (tanto del martes como del viernes) se van a cargar todos los domingos por la tarde</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viernes se va a hacer un código en vivo (la mayor parte de las clases), para que el proceso lo vayamos aprendiendo en conjunto. Además de eso, va a haber un contenido ya armado más profundo y comentado, en caso de que alguien no pueda asistir </a:t>
            </a:r>
          </a:p>
          <a:p>
            <a:pPr marL="342900" indent="-342900">
              <a:spcAft>
                <a:spcPts val="600"/>
              </a:spcAft>
              <a:buSzPct val="100000"/>
              <a:buChar char="•"/>
            </a:pPr>
            <a:r>
              <a:rPr lang="es-AR" sz="1100" dirty="0">
                <a:solidFill>
                  <a:srgbClr val="5A7184"/>
                </a:solidFill>
                <a:latin typeface="Calibri" pitchFamily="34" charset="0"/>
                <a:cs typeface="Calibri" pitchFamily="34" charset="-120"/>
              </a:rPr>
              <a:t>No grabo las clases, pero ustedes pueden hacerlo (probablemente). Grabaciones viejas pueden encontrarlas acá: </a:t>
            </a:r>
            <a:r>
              <a:rPr lang="es-AR" sz="1100" dirty="0">
                <a:solidFill>
                  <a:srgbClr val="5A7184"/>
                </a:solidFill>
                <a:latin typeface="Calibri" pitchFamily="34" charset="0"/>
                <a:cs typeface="Calibri" pitchFamily="34" charset="-120"/>
                <a:hlinkClick r:id="rId3"/>
              </a:rPr>
              <a:t>https://docs.google.com/spreadsheets/d/1qJqhNKqZBd8fF-mceK9HD0qxr4E0L953vhowUnWI-IM/edit?gid=1693566194#gid=1693566194</a:t>
            </a:r>
            <a:r>
              <a:rPr lang="es-AR" sz="1100" dirty="0">
                <a:solidFill>
                  <a:srgbClr val="5A7184"/>
                </a:solidFill>
                <a:latin typeface="Calibri" pitchFamily="34" charset="0"/>
                <a:cs typeface="Calibri" pitchFamily="34" charset="-120"/>
              </a:rPr>
              <a:t> </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materiales se suben al </a:t>
            </a:r>
            <a:r>
              <a:rPr lang="es-AR" sz="1100" dirty="0" err="1">
                <a:solidFill>
                  <a:srgbClr val="5A7184"/>
                </a:solidFill>
                <a:latin typeface="Calibri" pitchFamily="34" charset="0"/>
                <a:cs typeface="Calibri" pitchFamily="34" charset="-120"/>
              </a:rPr>
              <a:t>Github</a:t>
            </a:r>
            <a:r>
              <a:rPr lang="es-AR" sz="1100" dirty="0">
                <a:solidFill>
                  <a:srgbClr val="5A7184"/>
                </a:solidFill>
                <a:latin typeface="Calibri" pitchFamily="34" charset="0"/>
                <a:cs typeface="Calibri" pitchFamily="34" charset="-120"/>
              </a:rPr>
              <a:t> (</a:t>
            </a:r>
            <a:r>
              <a:rPr lang="es-AR" sz="1100" dirty="0">
                <a:solidFill>
                  <a:srgbClr val="5A7184"/>
                </a:solidFill>
                <a:latin typeface="Calibri" pitchFamily="34" charset="0"/>
                <a:cs typeface="Calibri" pitchFamily="34" charset="-120"/>
                <a:hlinkClick r:id="rId4"/>
              </a:rPr>
              <a:t>https://github.com/nsidicarocep/curso_cdd_fce_uba_1c2026</a:t>
            </a:r>
            <a:r>
              <a:rPr lang="es-AR" sz="1100" dirty="0">
                <a:solidFill>
                  <a:srgbClr val="5A7184"/>
                </a:solidFill>
                <a:latin typeface="Calibri" pitchFamily="34" charset="0"/>
                <a:cs typeface="Calibri" pitchFamily="34" charset="-120"/>
              </a:rPr>
              <a:t>) . Todos los domingos se van a actualizar los materiales. Ustedes lo pueden tener </a:t>
            </a:r>
            <a:r>
              <a:rPr lang="es-AR" sz="1100" dirty="0" err="1">
                <a:solidFill>
                  <a:srgbClr val="5A7184"/>
                </a:solidFill>
                <a:latin typeface="Calibri" pitchFamily="34" charset="0"/>
                <a:cs typeface="Calibri" pitchFamily="34" charset="-120"/>
              </a:rPr>
              <a:t>forkear</a:t>
            </a:r>
            <a:r>
              <a:rPr lang="es-AR" sz="1100" dirty="0">
                <a:solidFill>
                  <a:srgbClr val="5A7184"/>
                </a:solidFill>
                <a:latin typeface="Calibri" pitchFamily="34" charset="0"/>
                <a:cs typeface="Calibri" pitchFamily="34" charset="-120"/>
              </a:rPr>
              <a:t> (replica propia que pueden modificar) o clonar. </a:t>
            </a:r>
            <a:r>
              <a:rPr lang="es-AR" sz="1100" dirty="0">
                <a:solidFill>
                  <a:srgbClr val="5A7184"/>
                </a:solidFill>
                <a:latin typeface="Calibri" pitchFamily="34" charset="0"/>
                <a:cs typeface="Calibri" pitchFamily="34" charset="-120"/>
                <a:hlinkClick r:id="rId5"/>
              </a:rPr>
              <a:t>https://www.geeksforgeeks.org/git/difference-between-fork-and-clone-in-github/</a:t>
            </a:r>
            <a:r>
              <a:rPr lang="es-AR" sz="1100" dirty="0">
                <a:solidFill>
                  <a:srgbClr val="5A7184"/>
                </a:solidFill>
                <a:latin typeface="Calibri" pitchFamily="34" charset="0"/>
                <a:cs typeface="Calibri" pitchFamily="34" charset="-120"/>
              </a:rPr>
              <a:t> </a:t>
            </a:r>
          </a:p>
          <a:p>
            <a:pPr marL="342900" indent="-342900">
              <a:spcAft>
                <a:spcPts val="600"/>
              </a:spcAft>
              <a:buSzPct val="100000"/>
              <a:buChar char="•"/>
            </a:pPr>
            <a:endParaRPr lang="es-AR" sz="1050" noProof="0" dirty="0"/>
          </a:p>
        </p:txBody>
      </p:sp>
      <p:sp>
        <p:nvSpPr>
          <p:cNvPr id="18" name="Shape 15">
            <a:extLst>
              <a:ext uri="{FF2B5EF4-FFF2-40B4-BE49-F238E27FC236}">
                <a16:creationId xmlns:a16="http://schemas.microsoft.com/office/drawing/2014/main" id="{9AA975C2-5E3C-1921-2CEE-A53201EA1120}"/>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a:extLst>
              <a:ext uri="{FF2B5EF4-FFF2-40B4-BE49-F238E27FC236}">
                <a16:creationId xmlns:a16="http://schemas.microsoft.com/office/drawing/2014/main" id="{6F9F45F0-43C9-6A47-9CFF-EE69E8BFCB16}"/>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a:extLst>
              <a:ext uri="{FF2B5EF4-FFF2-40B4-BE49-F238E27FC236}">
                <a16:creationId xmlns:a16="http://schemas.microsoft.com/office/drawing/2014/main" id="{2B6F93E7-1E71-F327-35B5-FAE37D94204E}"/>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extLst>
      <p:ext uri="{BB962C8B-B14F-4D97-AF65-F5344CB8AC3E}">
        <p14:creationId xmlns:p14="http://schemas.microsoft.com/office/powerpoint/2010/main" val="50828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sp>
        <p:nvSpPr>
          <p:cNvPr id="4" name="Text 2"/>
          <p:cNvSpPr/>
          <p:nvPr/>
        </p:nvSpPr>
        <p:spPr>
          <a:xfrm>
            <a:off x="914400" y="1097280"/>
            <a:ext cx="7315200" cy="914400"/>
          </a:xfrm>
          <a:prstGeom prst="rect">
            <a:avLst/>
          </a:prstGeom>
          <a:noFill/>
          <a:ln/>
        </p:spPr>
        <p:txBody>
          <a:bodyPr wrap="square" rtlCol="0" anchor="ctr"/>
          <a:lstStyle/>
          <a:p>
            <a:pPr marL="0" indent="0" algn="ctr">
              <a:buNone/>
            </a:pPr>
            <a:r>
              <a:rPr lang="es-AR" sz="3600" b="1" noProof="0" dirty="0">
                <a:solidFill>
                  <a:srgbClr val="FFFFFF"/>
                </a:solidFill>
                <a:latin typeface="Georgia" pitchFamily="34" charset="0"/>
                <a:ea typeface="Georgia" pitchFamily="34" charset="-122"/>
                <a:cs typeface="Georgia" pitchFamily="34" charset="-120"/>
              </a:rPr>
              <a:t>¡Bienvenidos al curso!</a:t>
            </a:r>
            <a:endParaRPr lang="es-AR" sz="3600" noProof="0" dirty="0"/>
          </a:p>
        </p:txBody>
      </p:sp>
      <p:sp>
        <p:nvSpPr>
          <p:cNvPr id="5" name="Shape 3"/>
          <p:cNvSpPr/>
          <p:nvPr/>
        </p:nvSpPr>
        <p:spPr>
          <a:xfrm>
            <a:off x="3200400" y="2148840"/>
            <a:ext cx="2743200" cy="22860"/>
          </a:xfrm>
          <a:prstGeom prst="rect">
            <a:avLst/>
          </a:prstGeom>
          <a:solidFill>
            <a:srgbClr val="E8963E"/>
          </a:solidFill>
          <a:ln/>
        </p:spPr>
        <p:txBody>
          <a:bodyPr/>
          <a:lstStyle/>
          <a:p>
            <a:endParaRPr lang="es-AR" noProof="0" dirty="0"/>
          </a:p>
        </p:txBody>
      </p:sp>
      <p:sp>
        <p:nvSpPr>
          <p:cNvPr id="6" name="Text 4"/>
          <p:cNvSpPr/>
          <p:nvPr/>
        </p:nvSpPr>
        <p:spPr>
          <a:xfrm>
            <a:off x="1097280" y="2377440"/>
            <a:ext cx="6949440" cy="731520"/>
          </a:xfrm>
          <a:prstGeom prst="rect">
            <a:avLst/>
          </a:prstGeom>
          <a:noFill/>
          <a:ln/>
        </p:spPr>
        <p:txBody>
          <a:bodyPr wrap="square" rtlCol="0" anchor="ctr"/>
          <a:lstStyle/>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La Ciencia de Datos es una herramienta fundamental</a:t>
            </a:r>
            <a:endParaRPr lang="es-AR" sz="1600" noProof="0" dirty="0"/>
          </a:p>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para el economista del siglo XXI.</a:t>
            </a:r>
            <a:endParaRPr lang="es-AR" sz="1600" noProof="0" dirty="0"/>
          </a:p>
        </p:txBody>
      </p:sp>
      <p:sp>
        <p:nvSpPr>
          <p:cNvPr id="7" name="Text 5"/>
          <p:cNvSpPr/>
          <p:nvPr/>
        </p:nvSpPr>
        <p:spPr>
          <a:xfrm>
            <a:off x="1828800" y="3383280"/>
            <a:ext cx="5486400" cy="914400"/>
          </a:xfrm>
          <a:prstGeom prst="rect">
            <a:avLst/>
          </a:prstGeom>
          <a:noFill/>
          <a:ln/>
        </p:spPr>
        <p:txBody>
          <a:bodyPr wrap="square" rtlCol="0" anchor="ctr"/>
          <a:lstStyle/>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Nicolás Sidicaro</a:t>
            </a:r>
            <a:endParaRPr lang="es-AR" sz="1400" noProof="0" dirty="0"/>
          </a:p>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Facultad de Ciencias Económicas — UBA</a:t>
            </a:r>
            <a:endParaRPr lang="es-AR" sz="1400" noProof="0" dirty="0"/>
          </a:p>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1er Cuatrimestre 2026</a:t>
            </a:r>
            <a:endParaRPr lang="es-AR" sz="1400" noProof="0" dirty="0"/>
          </a:p>
        </p:txBody>
      </p:sp>
      <p:sp>
        <p:nvSpPr>
          <p:cNvPr id="8"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9" name="Text 7"/>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1553</TotalTime>
  <Words>2048</Words>
  <Application>Microsoft Office PowerPoint</Application>
  <PresentationFormat>Presentación en pantalla (16:9)</PresentationFormat>
  <Paragraphs>296</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Ciencia de Datos para Economía y Negocios - Clase 1</dc:title>
  <dc:subject>PptxGenJS Presentation</dc:subject>
  <dc:creator>Nicolás Sidicaro</dc:creator>
  <cp:lastModifiedBy>Nicolas Sidicaro</cp:lastModifiedBy>
  <cp:revision>9</cp:revision>
  <dcterms:created xsi:type="dcterms:W3CDTF">2026-03-02T01:41:13Z</dcterms:created>
  <dcterms:modified xsi:type="dcterms:W3CDTF">2026-03-13T14:07:35Z</dcterms:modified>
</cp:coreProperties>
</file>